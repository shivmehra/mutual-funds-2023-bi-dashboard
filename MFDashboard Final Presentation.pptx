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5" r:id="rId10"/>
    <p:sldId id="266" r:id="rId11"/>
    <p:sldId id="269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943" autoAdjust="0"/>
  </p:normalViewPr>
  <p:slideViewPr>
    <p:cSldViewPr snapToGrid="0" snapToObjects="1">
      <p:cViewPr>
        <p:scale>
          <a:sx n="66" d="100"/>
          <a:sy n="66" d="100"/>
        </p:scale>
        <p:origin x="1930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11A493-D9C7-4E79-A5D9-F755C4B9120C}" type="doc">
      <dgm:prSet loTypeId="urn:microsoft.com/office/officeart/2008/layout/LinedList" loCatId="list" qsTypeId="urn:microsoft.com/office/officeart/2005/8/quickstyle/simple2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5CF5DCC6-C459-4FD4-A9B1-CE0A96ADE59F}">
      <dgm:prSet/>
      <dgm:spPr/>
      <dgm:t>
        <a:bodyPr/>
        <a:lstStyle/>
        <a:p>
          <a:r>
            <a:rPr lang="en-US" b="1"/>
            <a:t>Executive summary</a:t>
          </a:r>
          <a:endParaRPr lang="en-US"/>
        </a:p>
      </dgm:t>
    </dgm:pt>
    <dgm:pt modelId="{D2B88453-5455-49A5-B8A6-809DD902D404}" type="parTrans" cxnId="{2B223FBD-2A3C-4D90-B463-F15A65CCA755}">
      <dgm:prSet/>
      <dgm:spPr/>
      <dgm:t>
        <a:bodyPr/>
        <a:lstStyle/>
        <a:p>
          <a:endParaRPr lang="en-US"/>
        </a:p>
      </dgm:t>
    </dgm:pt>
    <dgm:pt modelId="{6DB1E597-0EC0-4540-B01A-66E7B2B8B8DC}" type="sibTrans" cxnId="{2B223FBD-2A3C-4D90-B463-F15A65CCA755}">
      <dgm:prSet/>
      <dgm:spPr/>
      <dgm:t>
        <a:bodyPr/>
        <a:lstStyle/>
        <a:p>
          <a:endParaRPr lang="en-US"/>
        </a:p>
      </dgm:t>
    </dgm:pt>
    <dgm:pt modelId="{22C1AA4B-B84D-44F4-AA78-B2CC999273A1}">
      <dgm:prSet/>
      <dgm:spPr/>
      <dgm:t>
        <a:bodyPr/>
        <a:lstStyle/>
        <a:p>
          <a:r>
            <a:rPr lang="en-US" b="1"/>
            <a:t>Data snapshot</a:t>
          </a:r>
          <a:endParaRPr lang="en-US"/>
        </a:p>
      </dgm:t>
    </dgm:pt>
    <dgm:pt modelId="{8D7721D1-F003-4196-ACC4-143B44188C55}" type="parTrans" cxnId="{23226960-4D43-4A47-9A8E-98CB189996AF}">
      <dgm:prSet/>
      <dgm:spPr/>
      <dgm:t>
        <a:bodyPr/>
        <a:lstStyle/>
        <a:p>
          <a:endParaRPr lang="en-US"/>
        </a:p>
      </dgm:t>
    </dgm:pt>
    <dgm:pt modelId="{076223EE-71CC-464E-A731-AB4586CFDEC1}" type="sibTrans" cxnId="{23226960-4D43-4A47-9A8E-98CB189996AF}">
      <dgm:prSet/>
      <dgm:spPr/>
      <dgm:t>
        <a:bodyPr/>
        <a:lstStyle/>
        <a:p>
          <a:endParaRPr lang="en-US"/>
        </a:p>
      </dgm:t>
    </dgm:pt>
    <dgm:pt modelId="{BA872140-2FFC-420F-B1C7-CF306B97DA6C}">
      <dgm:prSet/>
      <dgm:spPr/>
      <dgm:t>
        <a:bodyPr/>
        <a:lstStyle/>
        <a:p>
          <a:r>
            <a:rPr lang="en-US" b="1"/>
            <a:t>Page 1 Dashboard Overview</a:t>
          </a:r>
          <a:endParaRPr lang="en-US"/>
        </a:p>
      </dgm:t>
    </dgm:pt>
    <dgm:pt modelId="{18BB163B-F7E3-4D09-A007-AD11E08018AF}" type="parTrans" cxnId="{A6A19473-A31E-414C-A960-B3A6801B242F}">
      <dgm:prSet/>
      <dgm:spPr/>
      <dgm:t>
        <a:bodyPr/>
        <a:lstStyle/>
        <a:p>
          <a:endParaRPr lang="en-US"/>
        </a:p>
      </dgm:t>
    </dgm:pt>
    <dgm:pt modelId="{D85BB760-4A67-4626-9462-18B76F5E155D}" type="sibTrans" cxnId="{A6A19473-A31E-414C-A960-B3A6801B242F}">
      <dgm:prSet/>
      <dgm:spPr/>
      <dgm:t>
        <a:bodyPr/>
        <a:lstStyle/>
        <a:p>
          <a:endParaRPr lang="en-US"/>
        </a:p>
      </dgm:t>
    </dgm:pt>
    <dgm:pt modelId="{2431E269-04A4-448B-AC6B-E1C2DB5883CD}">
      <dgm:prSet/>
      <dgm:spPr/>
      <dgm:t>
        <a:bodyPr/>
        <a:lstStyle/>
        <a:p>
          <a:r>
            <a:rPr lang="en-US" b="1"/>
            <a:t>Page 2 Performance Analysis</a:t>
          </a:r>
          <a:endParaRPr lang="en-US"/>
        </a:p>
      </dgm:t>
    </dgm:pt>
    <dgm:pt modelId="{B1CE70AE-10F8-4FEC-A896-B2FB15C7A273}" type="parTrans" cxnId="{2A6452E6-FC29-4455-B2FD-CB874791574C}">
      <dgm:prSet/>
      <dgm:spPr/>
      <dgm:t>
        <a:bodyPr/>
        <a:lstStyle/>
        <a:p>
          <a:endParaRPr lang="en-US"/>
        </a:p>
      </dgm:t>
    </dgm:pt>
    <dgm:pt modelId="{27C70568-5478-45F1-B1E7-05992EE29777}" type="sibTrans" cxnId="{2A6452E6-FC29-4455-B2FD-CB874791574C}">
      <dgm:prSet/>
      <dgm:spPr/>
      <dgm:t>
        <a:bodyPr/>
        <a:lstStyle/>
        <a:p>
          <a:endParaRPr lang="en-US"/>
        </a:p>
      </dgm:t>
    </dgm:pt>
    <dgm:pt modelId="{100E3C25-93FB-4A12-9C92-0BABC28B184D}">
      <dgm:prSet/>
      <dgm:spPr/>
      <dgm:t>
        <a:bodyPr/>
        <a:lstStyle/>
        <a:p>
          <a:r>
            <a:rPr lang="en-US" b="1"/>
            <a:t>Key calculated measures and DAX</a:t>
          </a:r>
          <a:endParaRPr lang="en-US"/>
        </a:p>
      </dgm:t>
    </dgm:pt>
    <dgm:pt modelId="{79D041C1-25D2-40B1-A489-C1078051F905}" type="parTrans" cxnId="{C591614D-2719-4820-8EE2-923323FCB666}">
      <dgm:prSet/>
      <dgm:spPr/>
      <dgm:t>
        <a:bodyPr/>
        <a:lstStyle/>
        <a:p>
          <a:endParaRPr lang="en-US"/>
        </a:p>
      </dgm:t>
    </dgm:pt>
    <dgm:pt modelId="{A402B68E-C901-4818-941E-F435C363BA03}" type="sibTrans" cxnId="{C591614D-2719-4820-8EE2-923323FCB666}">
      <dgm:prSet/>
      <dgm:spPr/>
      <dgm:t>
        <a:bodyPr/>
        <a:lstStyle/>
        <a:p>
          <a:endParaRPr lang="en-US"/>
        </a:p>
      </dgm:t>
    </dgm:pt>
    <dgm:pt modelId="{A9A74825-C8B9-4165-B1AE-BCA6463CFFB4}">
      <dgm:prSet/>
      <dgm:spPr/>
      <dgm:t>
        <a:bodyPr/>
        <a:lstStyle/>
        <a:p>
          <a:r>
            <a:rPr lang="en-US" b="1"/>
            <a:t>Top findings from the two pages</a:t>
          </a:r>
          <a:endParaRPr lang="en-US"/>
        </a:p>
      </dgm:t>
    </dgm:pt>
    <dgm:pt modelId="{0F30F2F6-4E6F-4915-9481-450084CA7381}" type="parTrans" cxnId="{B359B6BB-FC4D-48AA-BDCD-632B9216513A}">
      <dgm:prSet/>
      <dgm:spPr/>
      <dgm:t>
        <a:bodyPr/>
        <a:lstStyle/>
        <a:p>
          <a:endParaRPr lang="en-US"/>
        </a:p>
      </dgm:t>
    </dgm:pt>
    <dgm:pt modelId="{6CA73325-D8B7-45D4-B3C3-CD1172A54A6B}" type="sibTrans" cxnId="{B359B6BB-FC4D-48AA-BDCD-632B9216513A}">
      <dgm:prSet/>
      <dgm:spPr/>
      <dgm:t>
        <a:bodyPr/>
        <a:lstStyle/>
        <a:p>
          <a:endParaRPr lang="en-US"/>
        </a:p>
      </dgm:t>
    </dgm:pt>
    <dgm:pt modelId="{7775A310-9D09-4601-978B-B1BE542AD7C6}">
      <dgm:prSet/>
      <dgm:spPr/>
      <dgm:t>
        <a:bodyPr/>
        <a:lstStyle/>
        <a:p>
          <a:r>
            <a:rPr lang="en-US" b="1"/>
            <a:t>Recommendations and next steps</a:t>
          </a:r>
          <a:endParaRPr lang="en-US"/>
        </a:p>
      </dgm:t>
    </dgm:pt>
    <dgm:pt modelId="{8EA2FA56-0EF0-4196-9870-C8A078B16089}" type="parTrans" cxnId="{04766704-FA74-4FC3-951E-B54578DCCD14}">
      <dgm:prSet/>
      <dgm:spPr/>
      <dgm:t>
        <a:bodyPr/>
        <a:lstStyle/>
        <a:p>
          <a:endParaRPr lang="en-US"/>
        </a:p>
      </dgm:t>
    </dgm:pt>
    <dgm:pt modelId="{A66351E6-2FB7-4A08-B184-DE6B991307EB}" type="sibTrans" cxnId="{04766704-FA74-4FC3-951E-B54578DCCD14}">
      <dgm:prSet/>
      <dgm:spPr/>
      <dgm:t>
        <a:bodyPr/>
        <a:lstStyle/>
        <a:p>
          <a:endParaRPr lang="en-US"/>
        </a:p>
      </dgm:t>
    </dgm:pt>
    <dgm:pt modelId="{CBAA9990-A48F-46C3-8541-7CABB1AC60EB}">
      <dgm:prSet/>
      <dgm:spPr/>
      <dgm:t>
        <a:bodyPr/>
        <a:lstStyle/>
        <a:p>
          <a:r>
            <a:rPr lang="en-US" b="1"/>
            <a:t>Appendix: data dictionary and DAX snippets</a:t>
          </a:r>
          <a:endParaRPr lang="en-US"/>
        </a:p>
      </dgm:t>
    </dgm:pt>
    <dgm:pt modelId="{E4E5887B-6D65-4EFA-9CD4-FD9EE10F37B4}" type="parTrans" cxnId="{46C3A96E-650F-4511-8A77-F175AE212A11}">
      <dgm:prSet/>
      <dgm:spPr/>
      <dgm:t>
        <a:bodyPr/>
        <a:lstStyle/>
        <a:p>
          <a:endParaRPr lang="en-US"/>
        </a:p>
      </dgm:t>
    </dgm:pt>
    <dgm:pt modelId="{0991F8F0-94BF-40A9-9B3C-CEAB440499F0}" type="sibTrans" cxnId="{46C3A96E-650F-4511-8A77-F175AE212A11}">
      <dgm:prSet/>
      <dgm:spPr/>
      <dgm:t>
        <a:bodyPr/>
        <a:lstStyle/>
        <a:p>
          <a:endParaRPr lang="en-US"/>
        </a:p>
      </dgm:t>
    </dgm:pt>
    <dgm:pt modelId="{D43885A2-A09D-44F7-947F-A958EC820F8F}" type="pres">
      <dgm:prSet presAssocID="{6911A493-D9C7-4E79-A5D9-F755C4B9120C}" presName="vert0" presStyleCnt="0">
        <dgm:presLayoutVars>
          <dgm:dir/>
          <dgm:animOne val="branch"/>
          <dgm:animLvl val="lvl"/>
        </dgm:presLayoutVars>
      </dgm:prSet>
      <dgm:spPr/>
    </dgm:pt>
    <dgm:pt modelId="{EE6B54E7-3F38-40E4-AEE4-39BC93F0D0D9}" type="pres">
      <dgm:prSet presAssocID="{5CF5DCC6-C459-4FD4-A9B1-CE0A96ADE59F}" presName="thickLine" presStyleLbl="alignNode1" presStyleIdx="0" presStyleCnt="8"/>
      <dgm:spPr/>
    </dgm:pt>
    <dgm:pt modelId="{D4E24B65-51EF-4B18-AEB5-482F44D39916}" type="pres">
      <dgm:prSet presAssocID="{5CF5DCC6-C459-4FD4-A9B1-CE0A96ADE59F}" presName="horz1" presStyleCnt="0"/>
      <dgm:spPr/>
    </dgm:pt>
    <dgm:pt modelId="{B88348F0-7590-43FE-AE7C-FF2F7289FD80}" type="pres">
      <dgm:prSet presAssocID="{5CF5DCC6-C459-4FD4-A9B1-CE0A96ADE59F}" presName="tx1" presStyleLbl="revTx" presStyleIdx="0" presStyleCnt="8"/>
      <dgm:spPr/>
    </dgm:pt>
    <dgm:pt modelId="{74AF5B18-99EA-4BB8-9A2C-1C3D71F17FE9}" type="pres">
      <dgm:prSet presAssocID="{5CF5DCC6-C459-4FD4-A9B1-CE0A96ADE59F}" presName="vert1" presStyleCnt="0"/>
      <dgm:spPr/>
    </dgm:pt>
    <dgm:pt modelId="{82F52694-5283-4D2A-A9A2-7C61A1BB57BF}" type="pres">
      <dgm:prSet presAssocID="{22C1AA4B-B84D-44F4-AA78-B2CC999273A1}" presName="thickLine" presStyleLbl="alignNode1" presStyleIdx="1" presStyleCnt="8"/>
      <dgm:spPr/>
    </dgm:pt>
    <dgm:pt modelId="{F44DD861-C1F9-442B-8793-40E4A841FF8A}" type="pres">
      <dgm:prSet presAssocID="{22C1AA4B-B84D-44F4-AA78-B2CC999273A1}" presName="horz1" presStyleCnt="0"/>
      <dgm:spPr/>
    </dgm:pt>
    <dgm:pt modelId="{50749529-1D4F-4D26-865F-263EFCF1F423}" type="pres">
      <dgm:prSet presAssocID="{22C1AA4B-B84D-44F4-AA78-B2CC999273A1}" presName="tx1" presStyleLbl="revTx" presStyleIdx="1" presStyleCnt="8"/>
      <dgm:spPr/>
    </dgm:pt>
    <dgm:pt modelId="{EAB51698-0DC8-456F-97C9-E004D96E6A2F}" type="pres">
      <dgm:prSet presAssocID="{22C1AA4B-B84D-44F4-AA78-B2CC999273A1}" presName="vert1" presStyleCnt="0"/>
      <dgm:spPr/>
    </dgm:pt>
    <dgm:pt modelId="{4876365F-2250-40C9-B237-80430F7429A4}" type="pres">
      <dgm:prSet presAssocID="{BA872140-2FFC-420F-B1C7-CF306B97DA6C}" presName="thickLine" presStyleLbl="alignNode1" presStyleIdx="2" presStyleCnt="8"/>
      <dgm:spPr/>
    </dgm:pt>
    <dgm:pt modelId="{E5A6858D-32D1-4B0D-94CE-7A1F325FA22F}" type="pres">
      <dgm:prSet presAssocID="{BA872140-2FFC-420F-B1C7-CF306B97DA6C}" presName="horz1" presStyleCnt="0"/>
      <dgm:spPr/>
    </dgm:pt>
    <dgm:pt modelId="{3BA1D851-D823-4F80-A5BA-746E5FA94DD2}" type="pres">
      <dgm:prSet presAssocID="{BA872140-2FFC-420F-B1C7-CF306B97DA6C}" presName="tx1" presStyleLbl="revTx" presStyleIdx="2" presStyleCnt="8"/>
      <dgm:spPr/>
    </dgm:pt>
    <dgm:pt modelId="{FD731EAF-8846-439B-95B5-49E01690C83F}" type="pres">
      <dgm:prSet presAssocID="{BA872140-2FFC-420F-B1C7-CF306B97DA6C}" presName="vert1" presStyleCnt="0"/>
      <dgm:spPr/>
    </dgm:pt>
    <dgm:pt modelId="{32A7F29F-0847-474F-8997-C04D55742077}" type="pres">
      <dgm:prSet presAssocID="{2431E269-04A4-448B-AC6B-E1C2DB5883CD}" presName="thickLine" presStyleLbl="alignNode1" presStyleIdx="3" presStyleCnt="8"/>
      <dgm:spPr/>
    </dgm:pt>
    <dgm:pt modelId="{F9EAE8BD-175A-4CB2-88A9-D44861A8EF7C}" type="pres">
      <dgm:prSet presAssocID="{2431E269-04A4-448B-AC6B-E1C2DB5883CD}" presName="horz1" presStyleCnt="0"/>
      <dgm:spPr/>
    </dgm:pt>
    <dgm:pt modelId="{5954F7D0-7336-480D-BA0D-28B936009B52}" type="pres">
      <dgm:prSet presAssocID="{2431E269-04A4-448B-AC6B-E1C2DB5883CD}" presName="tx1" presStyleLbl="revTx" presStyleIdx="3" presStyleCnt="8"/>
      <dgm:spPr/>
    </dgm:pt>
    <dgm:pt modelId="{2B921260-1C4A-463D-833C-A345552F7A1A}" type="pres">
      <dgm:prSet presAssocID="{2431E269-04A4-448B-AC6B-E1C2DB5883CD}" presName="vert1" presStyleCnt="0"/>
      <dgm:spPr/>
    </dgm:pt>
    <dgm:pt modelId="{74988C52-A128-40A2-B0E9-9D185FC45A83}" type="pres">
      <dgm:prSet presAssocID="{100E3C25-93FB-4A12-9C92-0BABC28B184D}" presName="thickLine" presStyleLbl="alignNode1" presStyleIdx="4" presStyleCnt="8"/>
      <dgm:spPr/>
    </dgm:pt>
    <dgm:pt modelId="{42FB4CFF-4817-4E4B-8B76-2586EF46ACC6}" type="pres">
      <dgm:prSet presAssocID="{100E3C25-93FB-4A12-9C92-0BABC28B184D}" presName="horz1" presStyleCnt="0"/>
      <dgm:spPr/>
    </dgm:pt>
    <dgm:pt modelId="{17F92D94-3BF3-4D30-ACF3-49FA8954A550}" type="pres">
      <dgm:prSet presAssocID="{100E3C25-93FB-4A12-9C92-0BABC28B184D}" presName="tx1" presStyleLbl="revTx" presStyleIdx="4" presStyleCnt="8"/>
      <dgm:spPr/>
    </dgm:pt>
    <dgm:pt modelId="{BCCE35DF-76F2-4625-8A80-FA1AAE202A7F}" type="pres">
      <dgm:prSet presAssocID="{100E3C25-93FB-4A12-9C92-0BABC28B184D}" presName="vert1" presStyleCnt="0"/>
      <dgm:spPr/>
    </dgm:pt>
    <dgm:pt modelId="{1D393B98-D2D1-4C75-9A16-F4ADE9CEBF54}" type="pres">
      <dgm:prSet presAssocID="{A9A74825-C8B9-4165-B1AE-BCA6463CFFB4}" presName="thickLine" presStyleLbl="alignNode1" presStyleIdx="5" presStyleCnt="8"/>
      <dgm:spPr/>
    </dgm:pt>
    <dgm:pt modelId="{F49011BC-22BD-4888-BF11-87A5F8C803CF}" type="pres">
      <dgm:prSet presAssocID="{A9A74825-C8B9-4165-B1AE-BCA6463CFFB4}" presName="horz1" presStyleCnt="0"/>
      <dgm:spPr/>
    </dgm:pt>
    <dgm:pt modelId="{BD65E6F3-3329-4614-AD37-55F6729B0FB5}" type="pres">
      <dgm:prSet presAssocID="{A9A74825-C8B9-4165-B1AE-BCA6463CFFB4}" presName="tx1" presStyleLbl="revTx" presStyleIdx="5" presStyleCnt="8"/>
      <dgm:spPr/>
    </dgm:pt>
    <dgm:pt modelId="{13EDF40B-DB18-4D37-8C39-5409A34AA1C2}" type="pres">
      <dgm:prSet presAssocID="{A9A74825-C8B9-4165-B1AE-BCA6463CFFB4}" presName="vert1" presStyleCnt="0"/>
      <dgm:spPr/>
    </dgm:pt>
    <dgm:pt modelId="{CAD9A1C6-F587-4C72-8305-DD5F09876221}" type="pres">
      <dgm:prSet presAssocID="{7775A310-9D09-4601-978B-B1BE542AD7C6}" presName="thickLine" presStyleLbl="alignNode1" presStyleIdx="6" presStyleCnt="8"/>
      <dgm:spPr/>
    </dgm:pt>
    <dgm:pt modelId="{4BE754B7-9E17-4709-8156-FAF6FFD82B79}" type="pres">
      <dgm:prSet presAssocID="{7775A310-9D09-4601-978B-B1BE542AD7C6}" presName="horz1" presStyleCnt="0"/>
      <dgm:spPr/>
    </dgm:pt>
    <dgm:pt modelId="{8281DE0E-78E8-4876-A6F5-ABDB4EEBB314}" type="pres">
      <dgm:prSet presAssocID="{7775A310-9D09-4601-978B-B1BE542AD7C6}" presName="tx1" presStyleLbl="revTx" presStyleIdx="6" presStyleCnt="8"/>
      <dgm:spPr/>
    </dgm:pt>
    <dgm:pt modelId="{16E5EAB9-A17A-44D4-9BD8-4253D30E8F08}" type="pres">
      <dgm:prSet presAssocID="{7775A310-9D09-4601-978B-B1BE542AD7C6}" presName="vert1" presStyleCnt="0"/>
      <dgm:spPr/>
    </dgm:pt>
    <dgm:pt modelId="{8FE808D5-1512-4852-B131-8FDF39A97205}" type="pres">
      <dgm:prSet presAssocID="{CBAA9990-A48F-46C3-8541-7CABB1AC60EB}" presName="thickLine" presStyleLbl="alignNode1" presStyleIdx="7" presStyleCnt="8"/>
      <dgm:spPr/>
    </dgm:pt>
    <dgm:pt modelId="{E85641C8-4598-442F-97ED-720590B17C11}" type="pres">
      <dgm:prSet presAssocID="{CBAA9990-A48F-46C3-8541-7CABB1AC60EB}" presName="horz1" presStyleCnt="0"/>
      <dgm:spPr/>
    </dgm:pt>
    <dgm:pt modelId="{4770530E-3BDA-4BEC-ADB2-3E58A2D31D90}" type="pres">
      <dgm:prSet presAssocID="{CBAA9990-A48F-46C3-8541-7CABB1AC60EB}" presName="tx1" presStyleLbl="revTx" presStyleIdx="7" presStyleCnt="8"/>
      <dgm:spPr/>
    </dgm:pt>
    <dgm:pt modelId="{F72DBC81-C608-4BF2-B7CF-AAE948B0E604}" type="pres">
      <dgm:prSet presAssocID="{CBAA9990-A48F-46C3-8541-7CABB1AC60EB}" presName="vert1" presStyleCnt="0"/>
      <dgm:spPr/>
    </dgm:pt>
  </dgm:ptLst>
  <dgm:cxnLst>
    <dgm:cxn modelId="{04766704-FA74-4FC3-951E-B54578DCCD14}" srcId="{6911A493-D9C7-4E79-A5D9-F755C4B9120C}" destId="{7775A310-9D09-4601-978B-B1BE542AD7C6}" srcOrd="6" destOrd="0" parTransId="{8EA2FA56-0EF0-4196-9870-C8A078B16089}" sibTransId="{A66351E6-2FB7-4A08-B184-DE6B991307EB}"/>
    <dgm:cxn modelId="{706F1B06-D5E4-45F8-AC0C-33815FC649C1}" type="presOf" srcId="{BA872140-2FFC-420F-B1C7-CF306B97DA6C}" destId="{3BA1D851-D823-4F80-A5BA-746E5FA94DD2}" srcOrd="0" destOrd="0" presId="urn:microsoft.com/office/officeart/2008/layout/LinedList"/>
    <dgm:cxn modelId="{1B513E07-898D-49A0-AB3A-03CB2398BDD7}" type="presOf" srcId="{2431E269-04A4-448B-AC6B-E1C2DB5883CD}" destId="{5954F7D0-7336-480D-BA0D-28B936009B52}" srcOrd="0" destOrd="0" presId="urn:microsoft.com/office/officeart/2008/layout/LinedList"/>
    <dgm:cxn modelId="{4396C408-797D-4E17-8F7F-0DC83DB46DD3}" type="presOf" srcId="{22C1AA4B-B84D-44F4-AA78-B2CC999273A1}" destId="{50749529-1D4F-4D26-865F-263EFCF1F423}" srcOrd="0" destOrd="0" presId="urn:microsoft.com/office/officeart/2008/layout/LinedList"/>
    <dgm:cxn modelId="{23226960-4D43-4A47-9A8E-98CB189996AF}" srcId="{6911A493-D9C7-4E79-A5D9-F755C4B9120C}" destId="{22C1AA4B-B84D-44F4-AA78-B2CC999273A1}" srcOrd="1" destOrd="0" parTransId="{8D7721D1-F003-4196-ACC4-143B44188C55}" sibTransId="{076223EE-71CC-464E-A731-AB4586CFDEC1}"/>
    <dgm:cxn modelId="{C591614D-2719-4820-8EE2-923323FCB666}" srcId="{6911A493-D9C7-4E79-A5D9-F755C4B9120C}" destId="{100E3C25-93FB-4A12-9C92-0BABC28B184D}" srcOrd="4" destOrd="0" parTransId="{79D041C1-25D2-40B1-A489-C1078051F905}" sibTransId="{A402B68E-C901-4818-941E-F435C363BA03}"/>
    <dgm:cxn modelId="{46C3A96E-650F-4511-8A77-F175AE212A11}" srcId="{6911A493-D9C7-4E79-A5D9-F755C4B9120C}" destId="{CBAA9990-A48F-46C3-8541-7CABB1AC60EB}" srcOrd="7" destOrd="0" parTransId="{E4E5887B-6D65-4EFA-9CD4-FD9EE10F37B4}" sibTransId="{0991F8F0-94BF-40A9-9B3C-CEAB440499F0}"/>
    <dgm:cxn modelId="{A6A19473-A31E-414C-A960-B3A6801B242F}" srcId="{6911A493-D9C7-4E79-A5D9-F755C4B9120C}" destId="{BA872140-2FFC-420F-B1C7-CF306B97DA6C}" srcOrd="2" destOrd="0" parTransId="{18BB163B-F7E3-4D09-A007-AD11E08018AF}" sibTransId="{D85BB760-4A67-4626-9462-18B76F5E155D}"/>
    <dgm:cxn modelId="{733E7E79-7C9D-460C-BBF5-A14F2DE1774B}" type="presOf" srcId="{CBAA9990-A48F-46C3-8541-7CABB1AC60EB}" destId="{4770530E-3BDA-4BEC-ADB2-3E58A2D31D90}" srcOrd="0" destOrd="0" presId="urn:microsoft.com/office/officeart/2008/layout/LinedList"/>
    <dgm:cxn modelId="{2A1DB859-4C91-4E49-AD6B-A2FA43BE9C22}" type="presOf" srcId="{A9A74825-C8B9-4165-B1AE-BCA6463CFFB4}" destId="{BD65E6F3-3329-4614-AD37-55F6729B0FB5}" srcOrd="0" destOrd="0" presId="urn:microsoft.com/office/officeart/2008/layout/LinedList"/>
    <dgm:cxn modelId="{0412AD99-AEB7-485C-861E-6A523F8E4FAC}" type="presOf" srcId="{5CF5DCC6-C459-4FD4-A9B1-CE0A96ADE59F}" destId="{B88348F0-7590-43FE-AE7C-FF2F7289FD80}" srcOrd="0" destOrd="0" presId="urn:microsoft.com/office/officeart/2008/layout/LinedList"/>
    <dgm:cxn modelId="{1E46C2BA-DE2C-4880-8214-388C0A03983C}" type="presOf" srcId="{100E3C25-93FB-4A12-9C92-0BABC28B184D}" destId="{17F92D94-3BF3-4D30-ACF3-49FA8954A550}" srcOrd="0" destOrd="0" presId="urn:microsoft.com/office/officeart/2008/layout/LinedList"/>
    <dgm:cxn modelId="{B359B6BB-FC4D-48AA-BDCD-632B9216513A}" srcId="{6911A493-D9C7-4E79-A5D9-F755C4B9120C}" destId="{A9A74825-C8B9-4165-B1AE-BCA6463CFFB4}" srcOrd="5" destOrd="0" parTransId="{0F30F2F6-4E6F-4915-9481-450084CA7381}" sibTransId="{6CA73325-D8B7-45D4-B3C3-CD1172A54A6B}"/>
    <dgm:cxn modelId="{2B223FBD-2A3C-4D90-B463-F15A65CCA755}" srcId="{6911A493-D9C7-4E79-A5D9-F755C4B9120C}" destId="{5CF5DCC6-C459-4FD4-A9B1-CE0A96ADE59F}" srcOrd="0" destOrd="0" parTransId="{D2B88453-5455-49A5-B8A6-809DD902D404}" sibTransId="{6DB1E597-0EC0-4540-B01A-66E7B2B8B8DC}"/>
    <dgm:cxn modelId="{56F615DF-51D1-4FF6-8641-F7404E2D1600}" type="presOf" srcId="{6911A493-D9C7-4E79-A5D9-F755C4B9120C}" destId="{D43885A2-A09D-44F7-947F-A958EC820F8F}" srcOrd="0" destOrd="0" presId="urn:microsoft.com/office/officeart/2008/layout/LinedList"/>
    <dgm:cxn modelId="{2A6452E6-FC29-4455-B2FD-CB874791574C}" srcId="{6911A493-D9C7-4E79-A5D9-F755C4B9120C}" destId="{2431E269-04A4-448B-AC6B-E1C2DB5883CD}" srcOrd="3" destOrd="0" parTransId="{B1CE70AE-10F8-4FEC-A896-B2FB15C7A273}" sibTransId="{27C70568-5478-45F1-B1E7-05992EE29777}"/>
    <dgm:cxn modelId="{CEC4D6FD-87E4-47A4-AEA2-6F6605379D9B}" type="presOf" srcId="{7775A310-9D09-4601-978B-B1BE542AD7C6}" destId="{8281DE0E-78E8-4876-A6F5-ABDB4EEBB314}" srcOrd="0" destOrd="0" presId="urn:microsoft.com/office/officeart/2008/layout/LinedList"/>
    <dgm:cxn modelId="{C842EF97-1CFD-40BD-AB3F-FBBFE34078B2}" type="presParOf" srcId="{D43885A2-A09D-44F7-947F-A958EC820F8F}" destId="{EE6B54E7-3F38-40E4-AEE4-39BC93F0D0D9}" srcOrd="0" destOrd="0" presId="urn:microsoft.com/office/officeart/2008/layout/LinedList"/>
    <dgm:cxn modelId="{717098B1-0C6D-488B-941C-E2BC90A8745A}" type="presParOf" srcId="{D43885A2-A09D-44F7-947F-A958EC820F8F}" destId="{D4E24B65-51EF-4B18-AEB5-482F44D39916}" srcOrd="1" destOrd="0" presId="urn:microsoft.com/office/officeart/2008/layout/LinedList"/>
    <dgm:cxn modelId="{A35B4228-FC01-4346-9AAA-5971ECA85750}" type="presParOf" srcId="{D4E24B65-51EF-4B18-AEB5-482F44D39916}" destId="{B88348F0-7590-43FE-AE7C-FF2F7289FD80}" srcOrd="0" destOrd="0" presId="urn:microsoft.com/office/officeart/2008/layout/LinedList"/>
    <dgm:cxn modelId="{84DF4BB6-4248-43BC-B39E-7C82AC706812}" type="presParOf" srcId="{D4E24B65-51EF-4B18-AEB5-482F44D39916}" destId="{74AF5B18-99EA-4BB8-9A2C-1C3D71F17FE9}" srcOrd="1" destOrd="0" presId="urn:microsoft.com/office/officeart/2008/layout/LinedList"/>
    <dgm:cxn modelId="{33DBCA67-21F4-4510-8930-F70D6531AC89}" type="presParOf" srcId="{D43885A2-A09D-44F7-947F-A958EC820F8F}" destId="{82F52694-5283-4D2A-A9A2-7C61A1BB57BF}" srcOrd="2" destOrd="0" presId="urn:microsoft.com/office/officeart/2008/layout/LinedList"/>
    <dgm:cxn modelId="{8318AB9F-3674-40E6-BA02-4F94E4C66009}" type="presParOf" srcId="{D43885A2-A09D-44F7-947F-A958EC820F8F}" destId="{F44DD861-C1F9-442B-8793-40E4A841FF8A}" srcOrd="3" destOrd="0" presId="urn:microsoft.com/office/officeart/2008/layout/LinedList"/>
    <dgm:cxn modelId="{83EBB208-BDE6-4A4E-AA32-39BC806A378E}" type="presParOf" srcId="{F44DD861-C1F9-442B-8793-40E4A841FF8A}" destId="{50749529-1D4F-4D26-865F-263EFCF1F423}" srcOrd="0" destOrd="0" presId="urn:microsoft.com/office/officeart/2008/layout/LinedList"/>
    <dgm:cxn modelId="{E1D26514-56B8-41A7-B5E5-EEC079923889}" type="presParOf" srcId="{F44DD861-C1F9-442B-8793-40E4A841FF8A}" destId="{EAB51698-0DC8-456F-97C9-E004D96E6A2F}" srcOrd="1" destOrd="0" presId="urn:microsoft.com/office/officeart/2008/layout/LinedList"/>
    <dgm:cxn modelId="{55EC4105-5141-4806-8578-8948FAAD4F23}" type="presParOf" srcId="{D43885A2-A09D-44F7-947F-A958EC820F8F}" destId="{4876365F-2250-40C9-B237-80430F7429A4}" srcOrd="4" destOrd="0" presId="urn:microsoft.com/office/officeart/2008/layout/LinedList"/>
    <dgm:cxn modelId="{19340E06-A119-472E-AAEC-382F116F6202}" type="presParOf" srcId="{D43885A2-A09D-44F7-947F-A958EC820F8F}" destId="{E5A6858D-32D1-4B0D-94CE-7A1F325FA22F}" srcOrd="5" destOrd="0" presId="urn:microsoft.com/office/officeart/2008/layout/LinedList"/>
    <dgm:cxn modelId="{57762F5E-28C8-4DC8-9715-BCD3F134B55A}" type="presParOf" srcId="{E5A6858D-32D1-4B0D-94CE-7A1F325FA22F}" destId="{3BA1D851-D823-4F80-A5BA-746E5FA94DD2}" srcOrd="0" destOrd="0" presId="urn:microsoft.com/office/officeart/2008/layout/LinedList"/>
    <dgm:cxn modelId="{6562A038-2CD6-4323-91EB-2B03072F6351}" type="presParOf" srcId="{E5A6858D-32D1-4B0D-94CE-7A1F325FA22F}" destId="{FD731EAF-8846-439B-95B5-49E01690C83F}" srcOrd="1" destOrd="0" presId="urn:microsoft.com/office/officeart/2008/layout/LinedList"/>
    <dgm:cxn modelId="{BBD13525-C79A-4043-9D45-DBBAF21738D5}" type="presParOf" srcId="{D43885A2-A09D-44F7-947F-A958EC820F8F}" destId="{32A7F29F-0847-474F-8997-C04D55742077}" srcOrd="6" destOrd="0" presId="urn:microsoft.com/office/officeart/2008/layout/LinedList"/>
    <dgm:cxn modelId="{B80DD8D5-A22B-4354-96CC-A6BCAABD514D}" type="presParOf" srcId="{D43885A2-A09D-44F7-947F-A958EC820F8F}" destId="{F9EAE8BD-175A-4CB2-88A9-D44861A8EF7C}" srcOrd="7" destOrd="0" presId="urn:microsoft.com/office/officeart/2008/layout/LinedList"/>
    <dgm:cxn modelId="{EC0E3506-2101-4404-9A1F-14F2ABAF719C}" type="presParOf" srcId="{F9EAE8BD-175A-4CB2-88A9-D44861A8EF7C}" destId="{5954F7D0-7336-480D-BA0D-28B936009B52}" srcOrd="0" destOrd="0" presId="urn:microsoft.com/office/officeart/2008/layout/LinedList"/>
    <dgm:cxn modelId="{D47D5489-AA89-4260-8175-83320DD3E773}" type="presParOf" srcId="{F9EAE8BD-175A-4CB2-88A9-D44861A8EF7C}" destId="{2B921260-1C4A-463D-833C-A345552F7A1A}" srcOrd="1" destOrd="0" presId="urn:microsoft.com/office/officeart/2008/layout/LinedList"/>
    <dgm:cxn modelId="{570E0054-8121-4CBE-8805-850612B78D81}" type="presParOf" srcId="{D43885A2-A09D-44F7-947F-A958EC820F8F}" destId="{74988C52-A128-40A2-B0E9-9D185FC45A83}" srcOrd="8" destOrd="0" presId="urn:microsoft.com/office/officeart/2008/layout/LinedList"/>
    <dgm:cxn modelId="{1FDDC0E1-E61C-45F1-81A8-F413DFA6FB99}" type="presParOf" srcId="{D43885A2-A09D-44F7-947F-A958EC820F8F}" destId="{42FB4CFF-4817-4E4B-8B76-2586EF46ACC6}" srcOrd="9" destOrd="0" presId="urn:microsoft.com/office/officeart/2008/layout/LinedList"/>
    <dgm:cxn modelId="{F8D446F5-1895-49E4-948F-B6A49DA8916A}" type="presParOf" srcId="{42FB4CFF-4817-4E4B-8B76-2586EF46ACC6}" destId="{17F92D94-3BF3-4D30-ACF3-49FA8954A550}" srcOrd="0" destOrd="0" presId="urn:microsoft.com/office/officeart/2008/layout/LinedList"/>
    <dgm:cxn modelId="{0382FA57-DF44-4A50-844A-0012660E6CB7}" type="presParOf" srcId="{42FB4CFF-4817-4E4B-8B76-2586EF46ACC6}" destId="{BCCE35DF-76F2-4625-8A80-FA1AAE202A7F}" srcOrd="1" destOrd="0" presId="urn:microsoft.com/office/officeart/2008/layout/LinedList"/>
    <dgm:cxn modelId="{1914B421-023E-4C60-A0CD-E055DE515CD7}" type="presParOf" srcId="{D43885A2-A09D-44F7-947F-A958EC820F8F}" destId="{1D393B98-D2D1-4C75-9A16-F4ADE9CEBF54}" srcOrd="10" destOrd="0" presId="urn:microsoft.com/office/officeart/2008/layout/LinedList"/>
    <dgm:cxn modelId="{9336FAC8-3EB7-41CF-B97A-98C9FAC206D1}" type="presParOf" srcId="{D43885A2-A09D-44F7-947F-A958EC820F8F}" destId="{F49011BC-22BD-4888-BF11-87A5F8C803CF}" srcOrd="11" destOrd="0" presId="urn:microsoft.com/office/officeart/2008/layout/LinedList"/>
    <dgm:cxn modelId="{88953AD7-1A61-40F2-BD28-BF3B3E54042D}" type="presParOf" srcId="{F49011BC-22BD-4888-BF11-87A5F8C803CF}" destId="{BD65E6F3-3329-4614-AD37-55F6729B0FB5}" srcOrd="0" destOrd="0" presId="urn:microsoft.com/office/officeart/2008/layout/LinedList"/>
    <dgm:cxn modelId="{FBB0A481-86B7-4772-B3EC-72D4EB69561F}" type="presParOf" srcId="{F49011BC-22BD-4888-BF11-87A5F8C803CF}" destId="{13EDF40B-DB18-4D37-8C39-5409A34AA1C2}" srcOrd="1" destOrd="0" presId="urn:microsoft.com/office/officeart/2008/layout/LinedList"/>
    <dgm:cxn modelId="{DFB161BA-BBEC-4B68-A7D3-2951C01F8F5A}" type="presParOf" srcId="{D43885A2-A09D-44F7-947F-A958EC820F8F}" destId="{CAD9A1C6-F587-4C72-8305-DD5F09876221}" srcOrd="12" destOrd="0" presId="urn:microsoft.com/office/officeart/2008/layout/LinedList"/>
    <dgm:cxn modelId="{8041BE61-13AA-4879-946C-F286756DD6AE}" type="presParOf" srcId="{D43885A2-A09D-44F7-947F-A958EC820F8F}" destId="{4BE754B7-9E17-4709-8156-FAF6FFD82B79}" srcOrd="13" destOrd="0" presId="urn:microsoft.com/office/officeart/2008/layout/LinedList"/>
    <dgm:cxn modelId="{AFEBD6D6-14C9-46A1-90D9-585F8136E7A3}" type="presParOf" srcId="{4BE754B7-9E17-4709-8156-FAF6FFD82B79}" destId="{8281DE0E-78E8-4876-A6F5-ABDB4EEBB314}" srcOrd="0" destOrd="0" presId="urn:microsoft.com/office/officeart/2008/layout/LinedList"/>
    <dgm:cxn modelId="{C521946F-BFCA-422E-B57A-138117EEE288}" type="presParOf" srcId="{4BE754B7-9E17-4709-8156-FAF6FFD82B79}" destId="{16E5EAB9-A17A-44D4-9BD8-4253D30E8F08}" srcOrd="1" destOrd="0" presId="urn:microsoft.com/office/officeart/2008/layout/LinedList"/>
    <dgm:cxn modelId="{978FBDA0-D35E-4FDF-8EC2-E16FC5AC1A85}" type="presParOf" srcId="{D43885A2-A09D-44F7-947F-A958EC820F8F}" destId="{8FE808D5-1512-4852-B131-8FDF39A97205}" srcOrd="14" destOrd="0" presId="urn:microsoft.com/office/officeart/2008/layout/LinedList"/>
    <dgm:cxn modelId="{B41C5B2A-CD82-4008-AE11-FD11EA1B83BF}" type="presParOf" srcId="{D43885A2-A09D-44F7-947F-A958EC820F8F}" destId="{E85641C8-4598-442F-97ED-720590B17C11}" srcOrd="15" destOrd="0" presId="urn:microsoft.com/office/officeart/2008/layout/LinedList"/>
    <dgm:cxn modelId="{B9EA6ABA-2FB0-4021-B6F8-781727440BB4}" type="presParOf" srcId="{E85641C8-4598-442F-97ED-720590B17C11}" destId="{4770530E-3BDA-4BEC-ADB2-3E58A2D31D90}" srcOrd="0" destOrd="0" presId="urn:microsoft.com/office/officeart/2008/layout/LinedList"/>
    <dgm:cxn modelId="{6F5A9DA3-7392-4970-B276-7EB06A9B2680}" type="presParOf" srcId="{E85641C8-4598-442F-97ED-720590B17C11}" destId="{F72DBC81-C608-4BF2-B7CF-AAE948B0E60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DCE468-E993-46B0-8EA7-C881313845C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183B7B4-1139-4F36-8F5D-3D501A1061FF}">
      <dgm:prSet/>
      <dgm:spPr/>
      <dgm:t>
        <a:bodyPr/>
        <a:lstStyle/>
        <a:p>
          <a:r>
            <a:rPr lang="en-CA" b="1"/>
            <a:t>Columns available</a:t>
          </a:r>
          <a:endParaRPr lang="en-US"/>
        </a:p>
      </dgm:t>
    </dgm:pt>
    <dgm:pt modelId="{1C6C5C27-CF68-4D90-B64F-84F9FA644EE5}" type="parTrans" cxnId="{17C25CFE-28C7-41D0-A512-B360FCF80EC4}">
      <dgm:prSet/>
      <dgm:spPr/>
      <dgm:t>
        <a:bodyPr/>
        <a:lstStyle/>
        <a:p>
          <a:endParaRPr lang="en-US"/>
        </a:p>
      </dgm:t>
    </dgm:pt>
    <dgm:pt modelId="{0F22403B-E87C-46B2-A724-FE2180752E45}" type="sibTrans" cxnId="{17C25CFE-28C7-41D0-A512-B360FCF80EC4}">
      <dgm:prSet/>
      <dgm:spPr/>
      <dgm:t>
        <a:bodyPr/>
        <a:lstStyle/>
        <a:p>
          <a:endParaRPr lang="en-US"/>
        </a:p>
      </dgm:t>
    </dgm:pt>
    <dgm:pt modelId="{5A851519-CF7F-4371-9FB7-BFDDF7DA9372}">
      <dgm:prSet/>
      <dgm:spPr/>
      <dgm:t>
        <a:bodyPr/>
        <a:lstStyle/>
        <a:p>
          <a:r>
            <a:rPr lang="en-CA"/>
            <a:t>Scheme; Category; </a:t>
          </a:r>
        </a:p>
        <a:p>
          <a:r>
            <a:rPr lang="en-CA"/>
            <a:t>Type; Benchmark; Rating; Net Asset Value (NAV); CAGR 6M; CAGR 1Y; CAGR 3Y; </a:t>
          </a:r>
        </a:p>
        <a:p>
          <a:r>
            <a:rPr lang="en-CA"/>
            <a:t>Min Investment; Expense Ratio; SIP Min Investment.</a:t>
          </a:r>
          <a:endParaRPr lang="en-US"/>
        </a:p>
      </dgm:t>
    </dgm:pt>
    <dgm:pt modelId="{2FB359F8-267E-4889-97CB-EEBDD4D6C2C0}" type="parTrans" cxnId="{999940DF-E4DD-4D2E-A95E-75D6978FD9FA}">
      <dgm:prSet/>
      <dgm:spPr/>
      <dgm:t>
        <a:bodyPr/>
        <a:lstStyle/>
        <a:p>
          <a:endParaRPr lang="en-US"/>
        </a:p>
      </dgm:t>
    </dgm:pt>
    <dgm:pt modelId="{32757C33-8562-43FA-8CC9-B6FD07DACDB5}" type="sibTrans" cxnId="{999940DF-E4DD-4D2E-A95E-75D6978FD9FA}">
      <dgm:prSet/>
      <dgm:spPr/>
      <dgm:t>
        <a:bodyPr/>
        <a:lstStyle/>
        <a:p>
          <a:endParaRPr lang="en-US"/>
        </a:p>
      </dgm:t>
    </dgm:pt>
    <dgm:pt modelId="{B2CA10B1-AF73-4244-9A96-12F5A78A772A}">
      <dgm:prSet/>
      <dgm:spPr/>
      <dgm:t>
        <a:bodyPr/>
        <a:lstStyle/>
        <a:p>
          <a:r>
            <a:rPr lang="en-US" b="1"/>
            <a:t>Data quality notes</a:t>
          </a:r>
          <a:endParaRPr lang="en-US"/>
        </a:p>
      </dgm:t>
    </dgm:pt>
    <dgm:pt modelId="{3E171B6A-6F96-48E8-87C9-F6EB1376680B}" type="parTrans" cxnId="{D81FE559-7AEC-4CAC-8B6B-308103DE8AF6}">
      <dgm:prSet/>
      <dgm:spPr/>
      <dgm:t>
        <a:bodyPr/>
        <a:lstStyle/>
        <a:p>
          <a:endParaRPr lang="en-US"/>
        </a:p>
      </dgm:t>
    </dgm:pt>
    <dgm:pt modelId="{7B96C533-1C43-4FD2-8B81-5720CB4E5806}" type="sibTrans" cxnId="{D81FE559-7AEC-4CAC-8B6B-308103DE8AF6}">
      <dgm:prSet/>
      <dgm:spPr/>
      <dgm:t>
        <a:bodyPr/>
        <a:lstStyle/>
        <a:p>
          <a:endParaRPr lang="en-US"/>
        </a:p>
      </dgm:t>
    </dgm:pt>
    <dgm:pt modelId="{E312FD46-8591-4A4C-A7F3-1706DE4BC06D}">
      <dgm:prSet/>
      <dgm:spPr/>
      <dgm:t>
        <a:bodyPr/>
        <a:lstStyle/>
        <a:p>
          <a:r>
            <a:rPr lang="en-US"/>
            <a:t>Numeric conversions: ensured CAGR and Expense Ratio are numeric and percent formatted.</a:t>
          </a:r>
        </a:p>
      </dgm:t>
    </dgm:pt>
    <dgm:pt modelId="{44944CF2-DB45-4F17-9209-693698160F67}" type="parTrans" cxnId="{F90E7F57-C632-4FA1-A855-F3849397B885}">
      <dgm:prSet/>
      <dgm:spPr/>
      <dgm:t>
        <a:bodyPr/>
        <a:lstStyle/>
        <a:p>
          <a:endParaRPr lang="en-US"/>
        </a:p>
      </dgm:t>
    </dgm:pt>
    <dgm:pt modelId="{6F744E3A-1AE2-42CE-910D-51F6F03121E1}" type="sibTrans" cxnId="{F90E7F57-C632-4FA1-A855-F3849397B885}">
      <dgm:prSet/>
      <dgm:spPr/>
      <dgm:t>
        <a:bodyPr/>
        <a:lstStyle/>
        <a:p>
          <a:endParaRPr lang="en-US"/>
        </a:p>
      </dgm:t>
    </dgm:pt>
    <dgm:pt modelId="{1FE839B1-A6C2-456B-9286-E4EA2C63B246}">
      <dgm:prSet/>
      <dgm:spPr/>
      <dgm:t>
        <a:bodyPr/>
        <a:lstStyle/>
        <a:p>
          <a:r>
            <a:rPr lang="en-US"/>
            <a:t>Row count: </a:t>
          </a:r>
          <a:r>
            <a:rPr lang="en-US" i="1"/>
            <a:t>2556</a:t>
          </a:r>
          <a:endParaRPr lang="en-US"/>
        </a:p>
      </dgm:t>
    </dgm:pt>
    <dgm:pt modelId="{75517255-190F-4B0C-89F0-C25E1533AD60}" type="parTrans" cxnId="{1C99050A-7AD7-4123-9A90-5000305CB603}">
      <dgm:prSet/>
      <dgm:spPr/>
      <dgm:t>
        <a:bodyPr/>
        <a:lstStyle/>
        <a:p>
          <a:endParaRPr lang="en-US"/>
        </a:p>
      </dgm:t>
    </dgm:pt>
    <dgm:pt modelId="{62A6AB3E-6300-4BB2-A0F7-4DA017CF777D}" type="sibTrans" cxnId="{1C99050A-7AD7-4123-9A90-5000305CB603}">
      <dgm:prSet/>
      <dgm:spPr/>
      <dgm:t>
        <a:bodyPr/>
        <a:lstStyle/>
        <a:p>
          <a:endParaRPr lang="en-US"/>
        </a:p>
      </dgm:t>
    </dgm:pt>
    <dgm:pt modelId="{BB8E66C5-9715-4444-BA99-F06C78361B34}" type="pres">
      <dgm:prSet presAssocID="{98DCE468-E993-46B0-8EA7-C881313845C0}" presName="vert0" presStyleCnt="0">
        <dgm:presLayoutVars>
          <dgm:dir/>
          <dgm:animOne val="branch"/>
          <dgm:animLvl val="lvl"/>
        </dgm:presLayoutVars>
      </dgm:prSet>
      <dgm:spPr/>
    </dgm:pt>
    <dgm:pt modelId="{014DC27A-5DD8-455C-B67D-FBFF406FC29F}" type="pres">
      <dgm:prSet presAssocID="{0183B7B4-1139-4F36-8F5D-3D501A1061FF}" presName="thickLine" presStyleLbl="alignNode1" presStyleIdx="0" presStyleCnt="5"/>
      <dgm:spPr/>
    </dgm:pt>
    <dgm:pt modelId="{81439132-26AC-4DA2-983F-4BC678A6FBAD}" type="pres">
      <dgm:prSet presAssocID="{0183B7B4-1139-4F36-8F5D-3D501A1061FF}" presName="horz1" presStyleCnt="0"/>
      <dgm:spPr/>
    </dgm:pt>
    <dgm:pt modelId="{674B2053-0442-49F0-8F54-E3C8D486A505}" type="pres">
      <dgm:prSet presAssocID="{0183B7B4-1139-4F36-8F5D-3D501A1061FF}" presName="tx1" presStyleLbl="revTx" presStyleIdx="0" presStyleCnt="5"/>
      <dgm:spPr/>
    </dgm:pt>
    <dgm:pt modelId="{4848B533-5FA6-4BCB-93BE-53961B3E0D8F}" type="pres">
      <dgm:prSet presAssocID="{0183B7B4-1139-4F36-8F5D-3D501A1061FF}" presName="vert1" presStyleCnt="0"/>
      <dgm:spPr/>
    </dgm:pt>
    <dgm:pt modelId="{C107A051-3473-44E5-938E-BD275A6ABA6C}" type="pres">
      <dgm:prSet presAssocID="{B2CA10B1-AF73-4244-9A96-12F5A78A772A}" presName="thickLine" presStyleLbl="alignNode1" presStyleIdx="1" presStyleCnt="5"/>
      <dgm:spPr/>
    </dgm:pt>
    <dgm:pt modelId="{5B98B855-24AF-48F5-AB75-5DD880ECA53D}" type="pres">
      <dgm:prSet presAssocID="{B2CA10B1-AF73-4244-9A96-12F5A78A772A}" presName="horz1" presStyleCnt="0"/>
      <dgm:spPr/>
    </dgm:pt>
    <dgm:pt modelId="{390C6794-2045-48BC-83C0-00AF951F415B}" type="pres">
      <dgm:prSet presAssocID="{B2CA10B1-AF73-4244-9A96-12F5A78A772A}" presName="tx1" presStyleLbl="revTx" presStyleIdx="1" presStyleCnt="5"/>
      <dgm:spPr/>
    </dgm:pt>
    <dgm:pt modelId="{4D22D3E4-6AD6-4CD5-9F9E-5711F2EE226E}" type="pres">
      <dgm:prSet presAssocID="{B2CA10B1-AF73-4244-9A96-12F5A78A772A}" presName="vert1" presStyleCnt="0"/>
      <dgm:spPr/>
    </dgm:pt>
    <dgm:pt modelId="{31E287B9-1167-4673-B1FD-25D370ECDE05}" type="pres">
      <dgm:prSet presAssocID="{E312FD46-8591-4A4C-A7F3-1706DE4BC06D}" presName="thickLine" presStyleLbl="alignNode1" presStyleIdx="2" presStyleCnt="5"/>
      <dgm:spPr/>
    </dgm:pt>
    <dgm:pt modelId="{9DBBE9D9-D976-4700-83CF-83A41AEC90BD}" type="pres">
      <dgm:prSet presAssocID="{E312FD46-8591-4A4C-A7F3-1706DE4BC06D}" presName="horz1" presStyleCnt="0"/>
      <dgm:spPr/>
    </dgm:pt>
    <dgm:pt modelId="{B978380F-E5D7-4D34-BF1A-AFDDF48FE7B7}" type="pres">
      <dgm:prSet presAssocID="{E312FD46-8591-4A4C-A7F3-1706DE4BC06D}" presName="tx1" presStyleLbl="revTx" presStyleIdx="2" presStyleCnt="5"/>
      <dgm:spPr/>
    </dgm:pt>
    <dgm:pt modelId="{33C4D8D6-656B-44B1-8EC2-057A20CFA81C}" type="pres">
      <dgm:prSet presAssocID="{E312FD46-8591-4A4C-A7F3-1706DE4BC06D}" presName="vert1" presStyleCnt="0"/>
      <dgm:spPr/>
    </dgm:pt>
    <dgm:pt modelId="{4B442C08-DE5A-4777-8ADF-652B2936F0E1}" type="pres">
      <dgm:prSet presAssocID="{1FE839B1-A6C2-456B-9286-E4EA2C63B246}" presName="thickLine" presStyleLbl="alignNode1" presStyleIdx="3" presStyleCnt="5"/>
      <dgm:spPr/>
    </dgm:pt>
    <dgm:pt modelId="{8EC19885-DBDF-444A-8CBF-29AA4D88BCAA}" type="pres">
      <dgm:prSet presAssocID="{1FE839B1-A6C2-456B-9286-E4EA2C63B246}" presName="horz1" presStyleCnt="0"/>
      <dgm:spPr/>
    </dgm:pt>
    <dgm:pt modelId="{AF7880C5-08DD-4598-8D91-695F917E9020}" type="pres">
      <dgm:prSet presAssocID="{1FE839B1-A6C2-456B-9286-E4EA2C63B246}" presName="tx1" presStyleLbl="revTx" presStyleIdx="3" presStyleCnt="5"/>
      <dgm:spPr/>
    </dgm:pt>
    <dgm:pt modelId="{859C16A3-B941-4E27-9F0E-88D3DD7220A4}" type="pres">
      <dgm:prSet presAssocID="{1FE839B1-A6C2-456B-9286-E4EA2C63B246}" presName="vert1" presStyleCnt="0"/>
      <dgm:spPr/>
    </dgm:pt>
    <dgm:pt modelId="{FE422648-C2CA-4411-8C17-5A32622F4469}" type="pres">
      <dgm:prSet presAssocID="{5A851519-CF7F-4371-9FB7-BFDDF7DA9372}" presName="thickLine" presStyleLbl="alignNode1" presStyleIdx="4" presStyleCnt="5"/>
      <dgm:spPr/>
    </dgm:pt>
    <dgm:pt modelId="{A4AD2B5B-C308-4BC8-BE45-2AA2EB3B328B}" type="pres">
      <dgm:prSet presAssocID="{5A851519-CF7F-4371-9FB7-BFDDF7DA9372}" presName="horz1" presStyleCnt="0"/>
      <dgm:spPr/>
    </dgm:pt>
    <dgm:pt modelId="{50BA7862-9874-4264-8BC3-674878939214}" type="pres">
      <dgm:prSet presAssocID="{5A851519-CF7F-4371-9FB7-BFDDF7DA9372}" presName="tx1" presStyleLbl="revTx" presStyleIdx="4" presStyleCnt="5"/>
      <dgm:spPr/>
    </dgm:pt>
    <dgm:pt modelId="{BCA8553E-F65D-4972-8374-FEBCF13B1536}" type="pres">
      <dgm:prSet presAssocID="{5A851519-CF7F-4371-9FB7-BFDDF7DA9372}" presName="vert1" presStyleCnt="0"/>
      <dgm:spPr/>
    </dgm:pt>
  </dgm:ptLst>
  <dgm:cxnLst>
    <dgm:cxn modelId="{1C99050A-7AD7-4123-9A90-5000305CB603}" srcId="{98DCE468-E993-46B0-8EA7-C881313845C0}" destId="{1FE839B1-A6C2-456B-9286-E4EA2C63B246}" srcOrd="3" destOrd="0" parTransId="{75517255-190F-4B0C-89F0-C25E1533AD60}" sibTransId="{62A6AB3E-6300-4BB2-A0F7-4DA017CF777D}"/>
    <dgm:cxn modelId="{769A555E-941E-4E9C-96B3-CE2EBED02F22}" type="presOf" srcId="{98DCE468-E993-46B0-8EA7-C881313845C0}" destId="{BB8E66C5-9715-4444-BA99-F06C78361B34}" srcOrd="0" destOrd="0" presId="urn:microsoft.com/office/officeart/2008/layout/LinedList"/>
    <dgm:cxn modelId="{F90E7F57-C632-4FA1-A855-F3849397B885}" srcId="{98DCE468-E993-46B0-8EA7-C881313845C0}" destId="{E312FD46-8591-4A4C-A7F3-1706DE4BC06D}" srcOrd="2" destOrd="0" parTransId="{44944CF2-DB45-4F17-9209-693698160F67}" sibTransId="{6F744E3A-1AE2-42CE-910D-51F6F03121E1}"/>
    <dgm:cxn modelId="{D81FE559-7AEC-4CAC-8B6B-308103DE8AF6}" srcId="{98DCE468-E993-46B0-8EA7-C881313845C0}" destId="{B2CA10B1-AF73-4244-9A96-12F5A78A772A}" srcOrd="1" destOrd="0" parTransId="{3E171B6A-6F96-48E8-87C9-F6EB1376680B}" sibTransId="{7B96C533-1C43-4FD2-8B81-5720CB4E5806}"/>
    <dgm:cxn modelId="{3689775A-154A-4F2E-B2F2-B7D83E96B788}" type="presOf" srcId="{E312FD46-8591-4A4C-A7F3-1706DE4BC06D}" destId="{B978380F-E5D7-4D34-BF1A-AFDDF48FE7B7}" srcOrd="0" destOrd="0" presId="urn:microsoft.com/office/officeart/2008/layout/LinedList"/>
    <dgm:cxn modelId="{25D0CB83-60BD-4E8E-ADE0-9F94FCCFAFA1}" type="presOf" srcId="{5A851519-CF7F-4371-9FB7-BFDDF7DA9372}" destId="{50BA7862-9874-4264-8BC3-674878939214}" srcOrd="0" destOrd="0" presId="urn:microsoft.com/office/officeart/2008/layout/LinedList"/>
    <dgm:cxn modelId="{9F603999-04CA-453E-9B77-A8AAD88382B4}" type="presOf" srcId="{0183B7B4-1139-4F36-8F5D-3D501A1061FF}" destId="{674B2053-0442-49F0-8F54-E3C8D486A505}" srcOrd="0" destOrd="0" presId="urn:microsoft.com/office/officeart/2008/layout/LinedList"/>
    <dgm:cxn modelId="{B4C0989E-4AE7-4362-8324-C9154FA09B62}" type="presOf" srcId="{1FE839B1-A6C2-456B-9286-E4EA2C63B246}" destId="{AF7880C5-08DD-4598-8D91-695F917E9020}" srcOrd="0" destOrd="0" presId="urn:microsoft.com/office/officeart/2008/layout/LinedList"/>
    <dgm:cxn modelId="{0FD6FFC3-C829-4DFB-B98B-4C4351C0C717}" type="presOf" srcId="{B2CA10B1-AF73-4244-9A96-12F5A78A772A}" destId="{390C6794-2045-48BC-83C0-00AF951F415B}" srcOrd="0" destOrd="0" presId="urn:microsoft.com/office/officeart/2008/layout/LinedList"/>
    <dgm:cxn modelId="{999940DF-E4DD-4D2E-A95E-75D6978FD9FA}" srcId="{98DCE468-E993-46B0-8EA7-C881313845C0}" destId="{5A851519-CF7F-4371-9FB7-BFDDF7DA9372}" srcOrd="4" destOrd="0" parTransId="{2FB359F8-267E-4889-97CB-EEBDD4D6C2C0}" sibTransId="{32757C33-8562-43FA-8CC9-B6FD07DACDB5}"/>
    <dgm:cxn modelId="{17C25CFE-28C7-41D0-A512-B360FCF80EC4}" srcId="{98DCE468-E993-46B0-8EA7-C881313845C0}" destId="{0183B7B4-1139-4F36-8F5D-3D501A1061FF}" srcOrd="0" destOrd="0" parTransId="{1C6C5C27-CF68-4D90-B64F-84F9FA644EE5}" sibTransId="{0F22403B-E87C-46B2-A724-FE2180752E45}"/>
    <dgm:cxn modelId="{9F07F3D6-4462-4CB9-B514-3D7E10B13AAF}" type="presParOf" srcId="{BB8E66C5-9715-4444-BA99-F06C78361B34}" destId="{014DC27A-5DD8-455C-B67D-FBFF406FC29F}" srcOrd="0" destOrd="0" presId="urn:microsoft.com/office/officeart/2008/layout/LinedList"/>
    <dgm:cxn modelId="{80A6C45C-B9DE-4398-8714-B8BAA7965758}" type="presParOf" srcId="{BB8E66C5-9715-4444-BA99-F06C78361B34}" destId="{81439132-26AC-4DA2-983F-4BC678A6FBAD}" srcOrd="1" destOrd="0" presId="urn:microsoft.com/office/officeart/2008/layout/LinedList"/>
    <dgm:cxn modelId="{CC5314FC-F086-4228-8E2D-E1314E17BC01}" type="presParOf" srcId="{81439132-26AC-4DA2-983F-4BC678A6FBAD}" destId="{674B2053-0442-49F0-8F54-E3C8D486A505}" srcOrd="0" destOrd="0" presId="urn:microsoft.com/office/officeart/2008/layout/LinedList"/>
    <dgm:cxn modelId="{834EE804-3FF2-479A-80E6-A1CCAE93F541}" type="presParOf" srcId="{81439132-26AC-4DA2-983F-4BC678A6FBAD}" destId="{4848B533-5FA6-4BCB-93BE-53961B3E0D8F}" srcOrd="1" destOrd="0" presId="urn:microsoft.com/office/officeart/2008/layout/LinedList"/>
    <dgm:cxn modelId="{186AC35D-C4E2-482D-9BA1-F597B69C7C26}" type="presParOf" srcId="{BB8E66C5-9715-4444-BA99-F06C78361B34}" destId="{C107A051-3473-44E5-938E-BD275A6ABA6C}" srcOrd="2" destOrd="0" presId="urn:microsoft.com/office/officeart/2008/layout/LinedList"/>
    <dgm:cxn modelId="{980EDFEF-E91C-43BA-82A3-9A9D6F6915C2}" type="presParOf" srcId="{BB8E66C5-9715-4444-BA99-F06C78361B34}" destId="{5B98B855-24AF-48F5-AB75-5DD880ECA53D}" srcOrd="3" destOrd="0" presId="urn:microsoft.com/office/officeart/2008/layout/LinedList"/>
    <dgm:cxn modelId="{0F817696-56C2-4F0D-97F2-C28CF86F9368}" type="presParOf" srcId="{5B98B855-24AF-48F5-AB75-5DD880ECA53D}" destId="{390C6794-2045-48BC-83C0-00AF951F415B}" srcOrd="0" destOrd="0" presId="urn:microsoft.com/office/officeart/2008/layout/LinedList"/>
    <dgm:cxn modelId="{0494DE80-1A15-4998-98D0-8A0184F76153}" type="presParOf" srcId="{5B98B855-24AF-48F5-AB75-5DD880ECA53D}" destId="{4D22D3E4-6AD6-4CD5-9F9E-5711F2EE226E}" srcOrd="1" destOrd="0" presId="urn:microsoft.com/office/officeart/2008/layout/LinedList"/>
    <dgm:cxn modelId="{17139201-2288-423D-AA03-2573A372E1E0}" type="presParOf" srcId="{BB8E66C5-9715-4444-BA99-F06C78361B34}" destId="{31E287B9-1167-4673-B1FD-25D370ECDE05}" srcOrd="4" destOrd="0" presId="urn:microsoft.com/office/officeart/2008/layout/LinedList"/>
    <dgm:cxn modelId="{1E9F71B7-ADB5-41E8-B779-098610B2D4F4}" type="presParOf" srcId="{BB8E66C5-9715-4444-BA99-F06C78361B34}" destId="{9DBBE9D9-D976-4700-83CF-83A41AEC90BD}" srcOrd="5" destOrd="0" presId="urn:microsoft.com/office/officeart/2008/layout/LinedList"/>
    <dgm:cxn modelId="{C118CD20-4B5E-4DC7-A3C8-DBBEF1C30947}" type="presParOf" srcId="{9DBBE9D9-D976-4700-83CF-83A41AEC90BD}" destId="{B978380F-E5D7-4D34-BF1A-AFDDF48FE7B7}" srcOrd="0" destOrd="0" presId="urn:microsoft.com/office/officeart/2008/layout/LinedList"/>
    <dgm:cxn modelId="{EF542F7C-C788-44C5-A547-EC5BBCC3D5A7}" type="presParOf" srcId="{9DBBE9D9-D976-4700-83CF-83A41AEC90BD}" destId="{33C4D8D6-656B-44B1-8EC2-057A20CFA81C}" srcOrd="1" destOrd="0" presId="urn:microsoft.com/office/officeart/2008/layout/LinedList"/>
    <dgm:cxn modelId="{9C462E30-AE1F-456A-B33C-6E672997F72F}" type="presParOf" srcId="{BB8E66C5-9715-4444-BA99-F06C78361B34}" destId="{4B442C08-DE5A-4777-8ADF-652B2936F0E1}" srcOrd="6" destOrd="0" presId="urn:microsoft.com/office/officeart/2008/layout/LinedList"/>
    <dgm:cxn modelId="{FA3121FF-BD55-410E-B26B-BD95E269289A}" type="presParOf" srcId="{BB8E66C5-9715-4444-BA99-F06C78361B34}" destId="{8EC19885-DBDF-444A-8CBF-29AA4D88BCAA}" srcOrd="7" destOrd="0" presId="urn:microsoft.com/office/officeart/2008/layout/LinedList"/>
    <dgm:cxn modelId="{555B0217-2931-45FD-8100-68FAF81190D4}" type="presParOf" srcId="{8EC19885-DBDF-444A-8CBF-29AA4D88BCAA}" destId="{AF7880C5-08DD-4598-8D91-695F917E9020}" srcOrd="0" destOrd="0" presId="urn:microsoft.com/office/officeart/2008/layout/LinedList"/>
    <dgm:cxn modelId="{0E10AD18-4F76-4F55-A9EC-5BEE9590AC7A}" type="presParOf" srcId="{8EC19885-DBDF-444A-8CBF-29AA4D88BCAA}" destId="{859C16A3-B941-4E27-9F0E-88D3DD7220A4}" srcOrd="1" destOrd="0" presId="urn:microsoft.com/office/officeart/2008/layout/LinedList"/>
    <dgm:cxn modelId="{66FD1A64-F4BF-48FE-8AD7-AEC8A69A3BA3}" type="presParOf" srcId="{BB8E66C5-9715-4444-BA99-F06C78361B34}" destId="{FE422648-C2CA-4411-8C17-5A32622F4469}" srcOrd="8" destOrd="0" presId="urn:microsoft.com/office/officeart/2008/layout/LinedList"/>
    <dgm:cxn modelId="{3AB8EEAA-9009-4C64-8E99-001A785AB12D}" type="presParOf" srcId="{BB8E66C5-9715-4444-BA99-F06C78361B34}" destId="{A4AD2B5B-C308-4BC8-BE45-2AA2EB3B328B}" srcOrd="9" destOrd="0" presId="urn:microsoft.com/office/officeart/2008/layout/LinedList"/>
    <dgm:cxn modelId="{F8C7BFF7-9D0C-4B04-83A6-D34899053E03}" type="presParOf" srcId="{A4AD2B5B-C308-4BC8-BE45-2AA2EB3B328B}" destId="{50BA7862-9874-4264-8BC3-674878939214}" srcOrd="0" destOrd="0" presId="urn:microsoft.com/office/officeart/2008/layout/LinedList"/>
    <dgm:cxn modelId="{946DDDD1-29BD-402D-A858-C005F8271F52}" type="presParOf" srcId="{A4AD2B5B-C308-4BC8-BE45-2AA2EB3B328B}" destId="{BCA8553E-F65D-4972-8374-FEBCF13B153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ADE120-0A6F-485E-8DAC-0509A729830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CE14ACB5-FA86-4402-93FE-39801429446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/>
            <a:t>Performance Score</a:t>
          </a:r>
          <a:endParaRPr lang="en-US" sz="2000"/>
        </a:p>
      </dgm:t>
    </dgm:pt>
    <dgm:pt modelId="{BE1D89E6-8DFC-42C9-AC88-F348455CD6FB}" type="parTrans" cxnId="{C07A4221-AC0B-4CE2-B2EF-E59FE2C3B69E}">
      <dgm:prSet/>
      <dgm:spPr/>
      <dgm:t>
        <a:bodyPr/>
        <a:lstStyle/>
        <a:p>
          <a:endParaRPr lang="en-US"/>
        </a:p>
      </dgm:t>
    </dgm:pt>
    <dgm:pt modelId="{83F81740-5FD3-4AE5-AE78-E40FC60665C7}" type="sibTrans" cxnId="{C07A4221-AC0B-4CE2-B2EF-E59FE2C3B69E}">
      <dgm:prSet/>
      <dgm:spPr/>
      <dgm:t>
        <a:bodyPr/>
        <a:lstStyle/>
        <a:p>
          <a:endParaRPr lang="en-US"/>
        </a:p>
      </dgm:t>
    </dgm:pt>
    <dgm:pt modelId="{FFE93D91-2995-42F0-973E-00D4158B01B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1800"/>
            <a:t>Performance Score = (0.5 × [CAGR 3Y]) + (0.3 × [CAGR 1Y]) + (0.2 × [CAGR 6M])</a:t>
          </a:r>
          <a:endParaRPr lang="en-US" sz="1800"/>
        </a:p>
      </dgm:t>
    </dgm:pt>
    <dgm:pt modelId="{220C0954-9FC8-44F8-AD6F-64E31EC85692}" type="parTrans" cxnId="{50ECEA97-CBFB-4451-8B96-97B849B64171}">
      <dgm:prSet/>
      <dgm:spPr/>
      <dgm:t>
        <a:bodyPr/>
        <a:lstStyle/>
        <a:p>
          <a:endParaRPr lang="en-US"/>
        </a:p>
      </dgm:t>
    </dgm:pt>
    <dgm:pt modelId="{A1315573-FA81-4217-B85E-6DCB2B7DE659}" type="sibTrans" cxnId="{50ECEA97-CBFB-4451-8B96-97B849B64171}">
      <dgm:prSet/>
      <dgm:spPr/>
      <dgm:t>
        <a:bodyPr/>
        <a:lstStyle/>
        <a:p>
          <a:endParaRPr lang="en-US"/>
        </a:p>
      </dgm:t>
    </dgm:pt>
    <dgm:pt modelId="{0B441563-7B17-42C3-BBFF-CB723546ABC9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/>
            <a:t>Stability Score</a:t>
          </a:r>
          <a:endParaRPr lang="en-US" sz="2000"/>
        </a:p>
      </dgm:t>
    </dgm:pt>
    <dgm:pt modelId="{619D7F75-1065-45E9-BB16-9ACF5360235F}" type="parTrans" cxnId="{58F6B5B4-A14F-4122-A39A-ACD5646B5594}">
      <dgm:prSet/>
      <dgm:spPr/>
      <dgm:t>
        <a:bodyPr/>
        <a:lstStyle/>
        <a:p>
          <a:endParaRPr lang="en-US"/>
        </a:p>
      </dgm:t>
    </dgm:pt>
    <dgm:pt modelId="{490CAABF-8922-4495-A3C2-FE30F796F290}" type="sibTrans" cxnId="{58F6B5B4-A14F-4122-A39A-ACD5646B5594}">
      <dgm:prSet/>
      <dgm:spPr/>
      <dgm:t>
        <a:bodyPr/>
        <a:lstStyle/>
        <a:p>
          <a:endParaRPr lang="en-US"/>
        </a:p>
      </dgm:t>
    </dgm:pt>
    <dgm:pt modelId="{193833F5-5F1F-48D4-AED4-EBF2EA40FB6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1800"/>
            <a:t>Stability = ABS([CAGR 6M] − [CAGR 3Y]) (lower = more stable)</a:t>
          </a:r>
          <a:endParaRPr lang="en-US" sz="1800"/>
        </a:p>
      </dgm:t>
    </dgm:pt>
    <dgm:pt modelId="{500EEE0E-7521-4A1B-8F5D-4F814784D362}" type="parTrans" cxnId="{D466077E-93B4-49DD-9465-CF12F183BB92}">
      <dgm:prSet/>
      <dgm:spPr/>
      <dgm:t>
        <a:bodyPr/>
        <a:lstStyle/>
        <a:p>
          <a:endParaRPr lang="en-US"/>
        </a:p>
      </dgm:t>
    </dgm:pt>
    <dgm:pt modelId="{39BDF08F-27FC-47D6-B8D4-ADDA012792F4}" type="sibTrans" cxnId="{D466077E-93B4-49DD-9465-CF12F183BB92}">
      <dgm:prSet/>
      <dgm:spPr/>
      <dgm:t>
        <a:bodyPr/>
        <a:lstStyle/>
        <a:p>
          <a:endParaRPr lang="en-US"/>
        </a:p>
      </dgm:t>
    </dgm:pt>
    <dgm:pt modelId="{13DDC324-4E32-42F9-804F-1D63D43582A8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/>
            <a:t>Return Efficiency</a:t>
          </a:r>
          <a:endParaRPr lang="en-US" sz="2000"/>
        </a:p>
      </dgm:t>
    </dgm:pt>
    <dgm:pt modelId="{6542C7AA-5387-4727-882F-880772F8DFA1}" type="parTrans" cxnId="{EA391658-5FF9-4B95-96EF-BD24E32F6883}">
      <dgm:prSet/>
      <dgm:spPr/>
      <dgm:t>
        <a:bodyPr/>
        <a:lstStyle/>
        <a:p>
          <a:endParaRPr lang="en-US"/>
        </a:p>
      </dgm:t>
    </dgm:pt>
    <dgm:pt modelId="{F4F901CB-2271-4203-9AF1-1328B1BBD730}" type="sibTrans" cxnId="{EA391658-5FF9-4B95-96EF-BD24E32F6883}">
      <dgm:prSet/>
      <dgm:spPr/>
      <dgm:t>
        <a:bodyPr/>
        <a:lstStyle/>
        <a:p>
          <a:endParaRPr lang="en-US"/>
        </a:p>
      </dgm:t>
    </dgm:pt>
    <dgm:pt modelId="{A8D79B3E-CD63-41F7-9A77-402B33202CF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1800"/>
            <a:t>Return Efficiency = [CAGR 3Y] / [Expense Ratio]</a:t>
          </a:r>
          <a:endParaRPr lang="en-US" sz="1800"/>
        </a:p>
      </dgm:t>
    </dgm:pt>
    <dgm:pt modelId="{F1568067-8C9A-492E-9224-35DF995F4D9E}" type="parTrans" cxnId="{61C11E8B-A4CF-4521-9BEE-0764948F144E}">
      <dgm:prSet/>
      <dgm:spPr/>
      <dgm:t>
        <a:bodyPr/>
        <a:lstStyle/>
        <a:p>
          <a:endParaRPr lang="en-US"/>
        </a:p>
      </dgm:t>
    </dgm:pt>
    <dgm:pt modelId="{25282DB2-0D17-4E19-B081-2B5E8AAEA1BB}" type="sibTrans" cxnId="{61C11E8B-A4CF-4521-9BEE-0764948F144E}">
      <dgm:prSet/>
      <dgm:spPr/>
      <dgm:t>
        <a:bodyPr/>
        <a:lstStyle/>
        <a:p>
          <a:endParaRPr lang="en-US"/>
        </a:p>
      </dgm:t>
    </dgm:pt>
    <dgm:pt modelId="{2158926F-7880-484B-9636-0254A780DE8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sz="2000"/>
            <a:t>Affordability Score</a:t>
          </a:r>
          <a:endParaRPr lang="en-US" sz="2000"/>
        </a:p>
      </dgm:t>
    </dgm:pt>
    <dgm:pt modelId="{6D49D550-D9FF-4DA7-9849-1CC94BD3F0A1}" type="parTrans" cxnId="{10F9F621-B7CF-44AA-ADBE-10C472CD683E}">
      <dgm:prSet/>
      <dgm:spPr/>
      <dgm:t>
        <a:bodyPr/>
        <a:lstStyle/>
        <a:p>
          <a:endParaRPr lang="en-US"/>
        </a:p>
      </dgm:t>
    </dgm:pt>
    <dgm:pt modelId="{EEDDB9E3-EC8D-4C61-8C0C-85D2CF6CFAB2}" type="sibTrans" cxnId="{10F9F621-B7CF-44AA-ADBE-10C472CD683E}">
      <dgm:prSet/>
      <dgm:spPr/>
      <dgm:t>
        <a:bodyPr/>
        <a:lstStyle/>
        <a:p>
          <a:endParaRPr lang="en-US"/>
        </a:p>
      </dgm:t>
    </dgm:pt>
    <dgm:pt modelId="{4463F212-D058-43E3-961C-D0B8401BA46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CA" sz="1800"/>
            <a:t>Affordability = [CAGR 3Y] / [Min Investment]</a:t>
          </a:r>
          <a:endParaRPr lang="en-US" sz="1800"/>
        </a:p>
      </dgm:t>
    </dgm:pt>
    <dgm:pt modelId="{19514D17-F865-422E-A80D-1ADAA77CFD65}" type="parTrans" cxnId="{DAFFC1EF-DA36-4C60-8417-4D5C4591079D}">
      <dgm:prSet/>
      <dgm:spPr/>
      <dgm:t>
        <a:bodyPr/>
        <a:lstStyle/>
        <a:p>
          <a:endParaRPr lang="en-US"/>
        </a:p>
      </dgm:t>
    </dgm:pt>
    <dgm:pt modelId="{06A22BAB-0E91-4CE2-B40C-2DD81635E03B}" type="sibTrans" cxnId="{DAFFC1EF-DA36-4C60-8417-4D5C4591079D}">
      <dgm:prSet/>
      <dgm:spPr/>
      <dgm:t>
        <a:bodyPr/>
        <a:lstStyle/>
        <a:p>
          <a:endParaRPr lang="en-US"/>
        </a:p>
      </dgm:t>
    </dgm:pt>
    <dgm:pt modelId="{335C3C2C-3B69-4DEC-B7B0-97B74E80BB24}" type="pres">
      <dgm:prSet presAssocID="{7CADE120-0A6F-485E-8DAC-0509A7298309}" presName="root" presStyleCnt="0">
        <dgm:presLayoutVars>
          <dgm:dir/>
          <dgm:resizeHandles val="exact"/>
        </dgm:presLayoutVars>
      </dgm:prSet>
      <dgm:spPr/>
    </dgm:pt>
    <dgm:pt modelId="{C2B641F8-F464-49B2-A571-170E0C471387}" type="pres">
      <dgm:prSet presAssocID="{CE14ACB5-FA86-4402-93FE-398014294462}" presName="compNode" presStyleCnt="0"/>
      <dgm:spPr/>
    </dgm:pt>
    <dgm:pt modelId="{9C8ABBC0-02F3-43C4-B563-86C20B09A95C}" type="pres">
      <dgm:prSet presAssocID="{CE14ACB5-FA86-4402-93FE-3980142944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5B777AF-9EAA-47D4-B620-7B7694DAE739}" type="pres">
      <dgm:prSet presAssocID="{CE14ACB5-FA86-4402-93FE-398014294462}" presName="iconSpace" presStyleCnt="0"/>
      <dgm:spPr/>
    </dgm:pt>
    <dgm:pt modelId="{46EE7E49-047B-498F-A309-C2482645DBBF}" type="pres">
      <dgm:prSet presAssocID="{CE14ACB5-FA86-4402-93FE-398014294462}" presName="parTx" presStyleLbl="revTx" presStyleIdx="0" presStyleCnt="8">
        <dgm:presLayoutVars>
          <dgm:chMax val="0"/>
          <dgm:chPref val="0"/>
        </dgm:presLayoutVars>
      </dgm:prSet>
      <dgm:spPr/>
    </dgm:pt>
    <dgm:pt modelId="{BC90381C-EBE9-454B-A65F-427AC9E29707}" type="pres">
      <dgm:prSet presAssocID="{CE14ACB5-FA86-4402-93FE-398014294462}" presName="txSpace" presStyleCnt="0"/>
      <dgm:spPr/>
    </dgm:pt>
    <dgm:pt modelId="{CF44AC87-A3B4-4FB5-BDCA-C96D6CCFC435}" type="pres">
      <dgm:prSet presAssocID="{CE14ACB5-FA86-4402-93FE-398014294462}" presName="desTx" presStyleLbl="revTx" presStyleIdx="1" presStyleCnt="8">
        <dgm:presLayoutVars/>
      </dgm:prSet>
      <dgm:spPr/>
    </dgm:pt>
    <dgm:pt modelId="{95761909-5EC2-4232-AF77-47C46B9F9FA2}" type="pres">
      <dgm:prSet presAssocID="{83F81740-5FD3-4AE5-AE78-E40FC60665C7}" presName="sibTrans" presStyleCnt="0"/>
      <dgm:spPr/>
    </dgm:pt>
    <dgm:pt modelId="{7ED19693-859B-436B-BED8-AF067E8AF5AE}" type="pres">
      <dgm:prSet presAssocID="{0B441563-7B17-42C3-BBFF-CB723546ABC9}" presName="compNode" presStyleCnt="0"/>
      <dgm:spPr/>
    </dgm:pt>
    <dgm:pt modelId="{BBA11E59-E853-4179-8D42-66C3ED9C7251}" type="pres">
      <dgm:prSet presAssocID="{0B441563-7B17-42C3-BBFF-CB723546ABC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C85F9967-E5DE-4F38-A405-7E153C9B39E2}" type="pres">
      <dgm:prSet presAssocID="{0B441563-7B17-42C3-BBFF-CB723546ABC9}" presName="iconSpace" presStyleCnt="0"/>
      <dgm:spPr/>
    </dgm:pt>
    <dgm:pt modelId="{172841EE-C9B5-42D0-9935-B95CB9CC15EC}" type="pres">
      <dgm:prSet presAssocID="{0B441563-7B17-42C3-BBFF-CB723546ABC9}" presName="parTx" presStyleLbl="revTx" presStyleIdx="2" presStyleCnt="8">
        <dgm:presLayoutVars>
          <dgm:chMax val="0"/>
          <dgm:chPref val="0"/>
        </dgm:presLayoutVars>
      </dgm:prSet>
      <dgm:spPr/>
    </dgm:pt>
    <dgm:pt modelId="{33384871-36B8-4D8D-9585-C4D10C4661FF}" type="pres">
      <dgm:prSet presAssocID="{0B441563-7B17-42C3-BBFF-CB723546ABC9}" presName="txSpace" presStyleCnt="0"/>
      <dgm:spPr/>
    </dgm:pt>
    <dgm:pt modelId="{652278F9-DCFF-4EC8-9A4B-9DB54088415B}" type="pres">
      <dgm:prSet presAssocID="{0B441563-7B17-42C3-BBFF-CB723546ABC9}" presName="desTx" presStyleLbl="revTx" presStyleIdx="3" presStyleCnt="8">
        <dgm:presLayoutVars/>
      </dgm:prSet>
      <dgm:spPr/>
    </dgm:pt>
    <dgm:pt modelId="{9CA8CBA9-2F99-4505-89D4-6B12BF998318}" type="pres">
      <dgm:prSet presAssocID="{490CAABF-8922-4495-A3C2-FE30F796F290}" presName="sibTrans" presStyleCnt="0"/>
      <dgm:spPr/>
    </dgm:pt>
    <dgm:pt modelId="{C2C4E8D4-6EEE-44DD-A2E0-67D6B3B291F3}" type="pres">
      <dgm:prSet presAssocID="{13DDC324-4E32-42F9-804F-1D63D43582A8}" presName="compNode" presStyleCnt="0"/>
      <dgm:spPr/>
    </dgm:pt>
    <dgm:pt modelId="{10D3DFC1-CD5F-41FE-A8EA-1BC3982AD885}" type="pres">
      <dgm:prSet presAssocID="{13DDC324-4E32-42F9-804F-1D63D43582A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AB4EFCD-68BE-4088-BB68-B11CE75DB63A}" type="pres">
      <dgm:prSet presAssocID="{13DDC324-4E32-42F9-804F-1D63D43582A8}" presName="iconSpace" presStyleCnt="0"/>
      <dgm:spPr/>
    </dgm:pt>
    <dgm:pt modelId="{DEC1F38F-0DB2-400B-B5EA-47709AB26E1E}" type="pres">
      <dgm:prSet presAssocID="{13DDC324-4E32-42F9-804F-1D63D43582A8}" presName="parTx" presStyleLbl="revTx" presStyleIdx="4" presStyleCnt="8">
        <dgm:presLayoutVars>
          <dgm:chMax val="0"/>
          <dgm:chPref val="0"/>
        </dgm:presLayoutVars>
      </dgm:prSet>
      <dgm:spPr/>
    </dgm:pt>
    <dgm:pt modelId="{89CCA13C-FD24-4B9F-9DF3-60339AD7D874}" type="pres">
      <dgm:prSet presAssocID="{13DDC324-4E32-42F9-804F-1D63D43582A8}" presName="txSpace" presStyleCnt="0"/>
      <dgm:spPr/>
    </dgm:pt>
    <dgm:pt modelId="{18053AE9-2AE8-4A88-A3F0-E9EE9EC6EF50}" type="pres">
      <dgm:prSet presAssocID="{13DDC324-4E32-42F9-804F-1D63D43582A8}" presName="desTx" presStyleLbl="revTx" presStyleIdx="5" presStyleCnt="8">
        <dgm:presLayoutVars/>
      </dgm:prSet>
      <dgm:spPr/>
    </dgm:pt>
    <dgm:pt modelId="{4565D6B3-ACCF-46B3-A6D5-C3047B20C968}" type="pres">
      <dgm:prSet presAssocID="{F4F901CB-2271-4203-9AF1-1328B1BBD730}" presName="sibTrans" presStyleCnt="0"/>
      <dgm:spPr/>
    </dgm:pt>
    <dgm:pt modelId="{C2D0D73E-5260-4CD5-B7B2-51C4FA5A326A}" type="pres">
      <dgm:prSet presAssocID="{2158926F-7880-484B-9636-0254A780DE83}" presName="compNode" presStyleCnt="0"/>
      <dgm:spPr/>
    </dgm:pt>
    <dgm:pt modelId="{182B5627-49BB-4436-9093-5908B7CEB584}" type="pres">
      <dgm:prSet presAssocID="{2158926F-7880-484B-9636-0254A780DE8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12567BB5-AD76-475B-AE4C-02966BF0B927}" type="pres">
      <dgm:prSet presAssocID="{2158926F-7880-484B-9636-0254A780DE83}" presName="iconSpace" presStyleCnt="0"/>
      <dgm:spPr/>
    </dgm:pt>
    <dgm:pt modelId="{2176571B-880B-4D97-B393-3C31AA6CDD2C}" type="pres">
      <dgm:prSet presAssocID="{2158926F-7880-484B-9636-0254A780DE83}" presName="parTx" presStyleLbl="revTx" presStyleIdx="6" presStyleCnt="8">
        <dgm:presLayoutVars>
          <dgm:chMax val="0"/>
          <dgm:chPref val="0"/>
        </dgm:presLayoutVars>
      </dgm:prSet>
      <dgm:spPr/>
    </dgm:pt>
    <dgm:pt modelId="{D7BBB5AC-D6F2-4480-8D2E-AE0B3654B791}" type="pres">
      <dgm:prSet presAssocID="{2158926F-7880-484B-9636-0254A780DE83}" presName="txSpace" presStyleCnt="0"/>
      <dgm:spPr/>
    </dgm:pt>
    <dgm:pt modelId="{5BF9AF17-ED1A-4A1F-B482-6657BA015A90}" type="pres">
      <dgm:prSet presAssocID="{2158926F-7880-484B-9636-0254A780DE83}" presName="desTx" presStyleLbl="revTx" presStyleIdx="7" presStyleCnt="8">
        <dgm:presLayoutVars/>
      </dgm:prSet>
      <dgm:spPr/>
    </dgm:pt>
  </dgm:ptLst>
  <dgm:cxnLst>
    <dgm:cxn modelId="{6187BE02-B70D-46CF-9FDE-ED746E60F235}" type="presOf" srcId="{FFE93D91-2995-42F0-973E-00D4158B01B0}" destId="{CF44AC87-A3B4-4FB5-BDCA-C96D6CCFC435}" srcOrd="0" destOrd="0" presId="urn:microsoft.com/office/officeart/2018/2/layout/IconLabelDescriptionList"/>
    <dgm:cxn modelId="{C07A4221-AC0B-4CE2-B2EF-E59FE2C3B69E}" srcId="{7CADE120-0A6F-485E-8DAC-0509A7298309}" destId="{CE14ACB5-FA86-4402-93FE-398014294462}" srcOrd="0" destOrd="0" parTransId="{BE1D89E6-8DFC-42C9-AC88-F348455CD6FB}" sibTransId="{83F81740-5FD3-4AE5-AE78-E40FC60665C7}"/>
    <dgm:cxn modelId="{10F9F621-B7CF-44AA-ADBE-10C472CD683E}" srcId="{7CADE120-0A6F-485E-8DAC-0509A7298309}" destId="{2158926F-7880-484B-9636-0254A780DE83}" srcOrd="3" destOrd="0" parTransId="{6D49D550-D9FF-4DA7-9849-1CC94BD3F0A1}" sibTransId="{EEDDB9E3-EC8D-4C61-8C0C-85D2CF6CFAB2}"/>
    <dgm:cxn modelId="{98C56129-8A7D-422F-94BB-AFA52E77633D}" type="presOf" srcId="{A8D79B3E-CD63-41F7-9A77-402B33202CFC}" destId="{18053AE9-2AE8-4A88-A3F0-E9EE9EC6EF50}" srcOrd="0" destOrd="0" presId="urn:microsoft.com/office/officeart/2018/2/layout/IconLabelDescriptionList"/>
    <dgm:cxn modelId="{CA0B913D-C685-4D93-BB62-1C9AEBC3D2AE}" type="presOf" srcId="{CE14ACB5-FA86-4402-93FE-398014294462}" destId="{46EE7E49-047B-498F-A309-C2482645DBBF}" srcOrd="0" destOrd="0" presId="urn:microsoft.com/office/officeart/2018/2/layout/IconLabelDescriptionList"/>
    <dgm:cxn modelId="{C00D404E-2D95-4010-87B9-77A5583071DA}" type="presOf" srcId="{13DDC324-4E32-42F9-804F-1D63D43582A8}" destId="{DEC1F38F-0DB2-400B-B5EA-47709AB26E1E}" srcOrd="0" destOrd="0" presId="urn:microsoft.com/office/officeart/2018/2/layout/IconLabelDescriptionList"/>
    <dgm:cxn modelId="{EA391658-5FF9-4B95-96EF-BD24E32F6883}" srcId="{7CADE120-0A6F-485E-8DAC-0509A7298309}" destId="{13DDC324-4E32-42F9-804F-1D63D43582A8}" srcOrd="2" destOrd="0" parTransId="{6542C7AA-5387-4727-882F-880772F8DFA1}" sibTransId="{F4F901CB-2271-4203-9AF1-1328B1BBD730}"/>
    <dgm:cxn modelId="{D466077E-93B4-49DD-9465-CF12F183BB92}" srcId="{0B441563-7B17-42C3-BBFF-CB723546ABC9}" destId="{193833F5-5F1F-48D4-AED4-EBF2EA40FB68}" srcOrd="0" destOrd="0" parTransId="{500EEE0E-7521-4A1B-8F5D-4F814784D362}" sibTransId="{39BDF08F-27FC-47D6-B8D4-ADDA012792F4}"/>
    <dgm:cxn modelId="{61C11E8B-A4CF-4521-9BEE-0764948F144E}" srcId="{13DDC324-4E32-42F9-804F-1D63D43582A8}" destId="{A8D79B3E-CD63-41F7-9A77-402B33202CFC}" srcOrd="0" destOrd="0" parTransId="{F1568067-8C9A-492E-9224-35DF995F4D9E}" sibTransId="{25282DB2-0D17-4E19-B081-2B5E8AAEA1BB}"/>
    <dgm:cxn modelId="{B770D38F-F553-46BF-B577-90CCE7511DF7}" type="presOf" srcId="{4463F212-D058-43E3-961C-D0B8401BA460}" destId="{5BF9AF17-ED1A-4A1F-B482-6657BA015A90}" srcOrd="0" destOrd="0" presId="urn:microsoft.com/office/officeart/2018/2/layout/IconLabelDescriptionList"/>
    <dgm:cxn modelId="{50ECEA97-CBFB-4451-8B96-97B849B64171}" srcId="{CE14ACB5-FA86-4402-93FE-398014294462}" destId="{FFE93D91-2995-42F0-973E-00D4158B01B0}" srcOrd="0" destOrd="0" parTransId="{220C0954-9FC8-44F8-AD6F-64E31EC85692}" sibTransId="{A1315573-FA81-4217-B85E-6DCB2B7DE659}"/>
    <dgm:cxn modelId="{2AF23DAF-013C-4360-9503-14D8809C19C7}" type="presOf" srcId="{7CADE120-0A6F-485E-8DAC-0509A7298309}" destId="{335C3C2C-3B69-4DEC-B7B0-97B74E80BB24}" srcOrd="0" destOrd="0" presId="urn:microsoft.com/office/officeart/2018/2/layout/IconLabelDescriptionList"/>
    <dgm:cxn modelId="{58F6B5B4-A14F-4122-A39A-ACD5646B5594}" srcId="{7CADE120-0A6F-485E-8DAC-0509A7298309}" destId="{0B441563-7B17-42C3-BBFF-CB723546ABC9}" srcOrd="1" destOrd="0" parTransId="{619D7F75-1065-45E9-BB16-9ACF5360235F}" sibTransId="{490CAABF-8922-4495-A3C2-FE30F796F290}"/>
    <dgm:cxn modelId="{B992C6CE-0258-466E-9B6B-39BB7E9BD5C4}" type="presOf" srcId="{0B441563-7B17-42C3-BBFF-CB723546ABC9}" destId="{172841EE-C9B5-42D0-9935-B95CB9CC15EC}" srcOrd="0" destOrd="0" presId="urn:microsoft.com/office/officeart/2018/2/layout/IconLabelDescriptionList"/>
    <dgm:cxn modelId="{D725A7EB-62A7-4D9C-ADAA-83DC18907FE5}" type="presOf" srcId="{2158926F-7880-484B-9636-0254A780DE83}" destId="{2176571B-880B-4D97-B393-3C31AA6CDD2C}" srcOrd="0" destOrd="0" presId="urn:microsoft.com/office/officeart/2018/2/layout/IconLabelDescriptionList"/>
    <dgm:cxn modelId="{DAFFC1EF-DA36-4C60-8417-4D5C4591079D}" srcId="{2158926F-7880-484B-9636-0254A780DE83}" destId="{4463F212-D058-43E3-961C-D0B8401BA460}" srcOrd="0" destOrd="0" parTransId="{19514D17-F865-422E-A80D-1ADAA77CFD65}" sibTransId="{06A22BAB-0E91-4CE2-B40C-2DD81635E03B}"/>
    <dgm:cxn modelId="{BA7237FC-26AC-4B49-A956-9CC83ECF8C13}" type="presOf" srcId="{193833F5-5F1F-48D4-AED4-EBF2EA40FB68}" destId="{652278F9-DCFF-4EC8-9A4B-9DB54088415B}" srcOrd="0" destOrd="0" presId="urn:microsoft.com/office/officeart/2018/2/layout/IconLabelDescriptionList"/>
    <dgm:cxn modelId="{D1AA9A2F-6BCA-4A5A-9BB2-826B3390CB79}" type="presParOf" srcId="{335C3C2C-3B69-4DEC-B7B0-97B74E80BB24}" destId="{C2B641F8-F464-49B2-A571-170E0C471387}" srcOrd="0" destOrd="0" presId="urn:microsoft.com/office/officeart/2018/2/layout/IconLabelDescriptionList"/>
    <dgm:cxn modelId="{065BF776-3560-4E91-9F42-408B2232C3D4}" type="presParOf" srcId="{C2B641F8-F464-49B2-A571-170E0C471387}" destId="{9C8ABBC0-02F3-43C4-B563-86C20B09A95C}" srcOrd="0" destOrd="0" presId="urn:microsoft.com/office/officeart/2018/2/layout/IconLabelDescriptionList"/>
    <dgm:cxn modelId="{E3A41203-D0DF-4E7B-9440-B0AE490F4A69}" type="presParOf" srcId="{C2B641F8-F464-49B2-A571-170E0C471387}" destId="{55B777AF-9EAA-47D4-B620-7B7694DAE739}" srcOrd="1" destOrd="0" presId="urn:microsoft.com/office/officeart/2018/2/layout/IconLabelDescriptionList"/>
    <dgm:cxn modelId="{1181C0AB-F5D4-46B7-93DE-00DE615A1456}" type="presParOf" srcId="{C2B641F8-F464-49B2-A571-170E0C471387}" destId="{46EE7E49-047B-498F-A309-C2482645DBBF}" srcOrd="2" destOrd="0" presId="urn:microsoft.com/office/officeart/2018/2/layout/IconLabelDescriptionList"/>
    <dgm:cxn modelId="{DDB0EF37-3503-4EB3-81F7-BEC26A336D0A}" type="presParOf" srcId="{C2B641F8-F464-49B2-A571-170E0C471387}" destId="{BC90381C-EBE9-454B-A65F-427AC9E29707}" srcOrd="3" destOrd="0" presId="urn:microsoft.com/office/officeart/2018/2/layout/IconLabelDescriptionList"/>
    <dgm:cxn modelId="{CDA32C32-61DB-444B-9847-053F0CF17D2A}" type="presParOf" srcId="{C2B641F8-F464-49B2-A571-170E0C471387}" destId="{CF44AC87-A3B4-4FB5-BDCA-C96D6CCFC435}" srcOrd="4" destOrd="0" presId="urn:microsoft.com/office/officeart/2018/2/layout/IconLabelDescriptionList"/>
    <dgm:cxn modelId="{E94D6AFB-C77D-4266-A60A-F4E8CCB9B7F6}" type="presParOf" srcId="{335C3C2C-3B69-4DEC-B7B0-97B74E80BB24}" destId="{95761909-5EC2-4232-AF77-47C46B9F9FA2}" srcOrd="1" destOrd="0" presId="urn:microsoft.com/office/officeart/2018/2/layout/IconLabelDescriptionList"/>
    <dgm:cxn modelId="{94A2554B-8663-47C9-95C4-819FB89AE2F8}" type="presParOf" srcId="{335C3C2C-3B69-4DEC-B7B0-97B74E80BB24}" destId="{7ED19693-859B-436B-BED8-AF067E8AF5AE}" srcOrd="2" destOrd="0" presId="urn:microsoft.com/office/officeart/2018/2/layout/IconLabelDescriptionList"/>
    <dgm:cxn modelId="{C8FB4D28-69E2-4DFE-BF5C-15F8BC679031}" type="presParOf" srcId="{7ED19693-859B-436B-BED8-AF067E8AF5AE}" destId="{BBA11E59-E853-4179-8D42-66C3ED9C7251}" srcOrd="0" destOrd="0" presId="urn:microsoft.com/office/officeart/2018/2/layout/IconLabelDescriptionList"/>
    <dgm:cxn modelId="{C96377FA-D984-4F02-8D28-79D6D28FEA8B}" type="presParOf" srcId="{7ED19693-859B-436B-BED8-AF067E8AF5AE}" destId="{C85F9967-E5DE-4F38-A405-7E153C9B39E2}" srcOrd="1" destOrd="0" presId="urn:microsoft.com/office/officeart/2018/2/layout/IconLabelDescriptionList"/>
    <dgm:cxn modelId="{00EB745D-E049-4CC2-BBC2-9CD20A7A5690}" type="presParOf" srcId="{7ED19693-859B-436B-BED8-AF067E8AF5AE}" destId="{172841EE-C9B5-42D0-9935-B95CB9CC15EC}" srcOrd="2" destOrd="0" presId="urn:microsoft.com/office/officeart/2018/2/layout/IconLabelDescriptionList"/>
    <dgm:cxn modelId="{67E1A643-2764-4535-AAEF-F3C376D4EFFB}" type="presParOf" srcId="{7ED19693-859B-436B-BED8-AF067E8AF5AE}" destId="{33384871-36B8-4D8D-9585-C4D10C4661FF}" srcOrd="3" destOrd="0" presId="urn:microsoft.com/office/officeart/2018/2/layout/IconLabelDescriptionList"/>
    <dgm:cxn modelId="{022FC315-A437-41CD-85B5-54A57F2644B9}" type="presParOf" srcId="{7ED19693-859B-436B-BED8-AF067E8AF5AE}" destId="{652278F9-DCFF-4EC8-9A4B-9DB54088415B}" srcOrd="4" destOrd="0" presId="urn:microsoft.com/office/officeart/2018/2/layout/IconLabelDescriptionList"/>
    <dgm:cxn modelId="{7244A268-81A2-4242-81D7-F33A24CE4D90}" type="presParOf" srcId="{335C3C2C-3B69-4DEC-B7B0-97B74E80BB24}" destId="{9CA8CBA9-2F99-4505-89D4-6B12BF998318}" srcOrd="3" destOrd="0" presId="urn:microsoft.com/office/officeart/2018/2/layout/IconLabelDescriptionList"/>
    <dgm:cxn modelId="{55D9EC60-7196-413E-9FF7-2D3E6B3D4B3F}" type="presParOf" srcId="{335C3C2C-3B69-4DEC-B7B0-97B74E80BB24}" destId="{C2C4E8D4-6EEE-44DD-A2E0-67D6B3B291F3}" srcOrd="4" destOrd="0" presId="urn:microsoft.com/office/officeart/2018/2/layout/IconLabelDescriptionList"/>
    <dgm:cxn modelId="{40615658-CC83-4AAB-80E4-37F2E7C9B583}" type="presParOf" srcId="{C2C4E8D4-6EEE-44DD-A2E0-67D6B3B291F3}" destId="{10D3DFC1-CD5F-41FE-A8EA-1BC3982AD885}" srcOrd="0" destOrd="0" presId="urn:microsoft.com/office/officeart/2018/2/layout/IconLabelDescriptionList"/>
    <dgm:cxn modelId="{ABAD410F-CD88-4A59-BB7E-9E262508F6F3}" type="presParOf" srcId="{C2C4E8D4-6EEE-44DD-A2E0-67D6B3B291F3}" destId="{EAB4EFCD-68BE-4088-BB68-B11CE75DB63A}" srcOrd="1" destOrd="0" presId="urn:microsoft.com/office/officeart/2018/2/layout/IconLabelDescriptionList"/>
    <dgm:cxn modelId="{692EE056-93CE-456B-A4C2-67585E925131}" type="presParOf" srcId="{C2C4E8D4-6EEE-44DD-A2E0-67D6B3B291F3}" destId="{DEC1F38F-0DB2-400B-B5EA-47709AB26E1E}" srcOrd="2" destOrd="0" presId="urn:microsoft.com/office/officeart/2018/2/layout/IconLabelDescriptionList"/>
    <dgm:cxn modelId="{394D97B2-658A-4E25-A573-76E76EB31E7C}" type="presParOf" srcId="{C2C4E8D4-6EEE-44DD-A2E0-67D6B3B291F3}" destId="{89CCA13C-FD24-4B9F-9DF3-60339AD7D874}" srcOrd="3" destOrd="0" presId="urn:microsoft.com/office/officeart/2018/2/layout/IconLabelDescriptionList"/>
    <dgm:cxn modelId="{918B7B1E-A308-4D28-96FB-0737ACF5BA6D}" type="presParOf" srcId="{C2C4E8D4-6EEE-44DD-A2E0-67D6B3B291F3}" destId="{18053AE9-2AE8-4A88-A3F0-E9EE9EC6EF50}" srcOrd="4" destOrd="0" presId="urn:microsoft.com/office/officeart/2018/2/layout/IconLabelDescriptionList"/>
    <dgm:cxn modelId="{154C1908-2EF3-4A20-9FD4-8C8A84EA931D}" type="presParOf" srcId="{335C3C2C-3B69-4DEC-B7B0-97B74E80BB24}" destId="{4565D6B3-ACCF-46B3-A6D5-C3047B20C968}" srcOrd="5" destOrd="0" presId="urn:microsoft.com/office/officeart/2018/2/layout/IconLabelDescriptionList"/>
    <dgm:cxn modelId="{510597B3-46CF-4C0A-9668-AA7C63E45CA5}" type="presParOf" srcId="{335C3C2C-3B69-4DEC-B7B0-97B74E80BB24}" destId="{C2D0D73E-5260-4CD5-B7B2-51C4FA5A326A}" srcOrd="6" destOrd="0" presId="urn:microsoft.com/office/officeart/2018/2/layout/IconLabelDescriptionList"/>
    <dgm:cxn modelId="{40885753-BCDF-4ADB-90EF-3AB61C716016}" type="presParOf" srcId="{C2D0D73E-5260-4CD5-B7B2-51C4FA5A326A}" destId="{182B5627-49BB-4436-9093-5908B7CEB584}" srcOrd="0" destOrd="0" presId="urn:microsoft.com/office/officeart/2018/2/layout/IconLabelDescriptionList"/>
    <dgm:cxn modelId="{E40CBFD7-A4FE-493D-BDFA-A093A7E61447}" type="presParOf" srcId="{C2D0D73E-5260-4CD5-B7B2-51C4FA5A326A}" destId="{12567BB5-AD76-475B-AE4C-02966BF0B927}" srcOrd="1" destOrd="0" presId="urn:microsoft.com/office/officeart/2018/2/layout/IconLabelDescriptionList"/>
    <dgm:cxn modelId="{95325563-A7DB-48C3-BEE6-F775122B5021}" type="presParOf" srcId="{C2D0D73E-5260-4CD5-B7B2-51C4FA5A326A}" destId="{2176571B-880B-4D97-B393-3C31AA6CDD2C}" srcOrd="2" destOrd="0" presId="urn:microsoft.com/office/officeart/2018/2/layout/IconLabelDescriptionList"/>
    <dgm:cxn modelId="{9C3012DE-1113-42D2-A14F-FE4F1AF24D1C}" type="presParOf" srcId="{C2D0D73E-5260-4CD5-B7B2-51C4FA5A326A}" destId="{D7BBB5AC-D6F2-4480-8D2E-AE0B3654B791}" srcOrd="3" destOrd="0" presId="urn:microsoft.com/office/officeart/2018/2/layout/IconLabelDescriptionList"/>
    <dgm:cxn modelId="{669100A7-F539-404A-BDF1-F23DDC5F6FFF}" type="presParOf" srcId="{C2D0D73E-5260-4CD5-B7B2-51C4FA5A326A}" destId="{5BF9AF17-ED1A-4A1F-B482-6657BA015A9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278159-517B-4074-97C5-1358CD4CF081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0717C64-9568-4BE1-B1F1-866DA68A6846}">
      <dgm:prSet/>
      <dgm:spPr/>
      <dgm:t>
        <a:bodyPr/>
        <a:lstStyle/>
        <a:p>
          <a:r>
            <a:rPr lang="en-US"/>
            <a:t>Top 3 funds by Performance Score</a:t>
          </a:r>
        </a:p>
      </dgm:t>
    </dgm:pt>
    <dgm:pt modelId="{4C43722E-0291-4C35-952B-6C17B494C553}" type="parTrans" cxnId="{066E6A75-41B6-44B2-8402-CF7C1B3E9C20}">
      <dgm:prSet/>
      <dgm:spPr/>
      <dgm:t>
        <a:bodyPr/>
        <a:lstStyle/>
        <a:p>
          <a:endParaRPr lang="en-US"/>
        </a:p>
      </dgm:t>
    </dgm:pt>
    <dgm:pt modelId="{CCD17215-5F76-4EC6-84CC-AF3668AD4259}" type="sibTrans" cxnId="{066E6A75-41B6-44B2-8402-CF7C1B3E9C20}">
      <dgm:prSet/>
      <dgm:spPr/>
      <dgm:t>
        <a:bodyPr/>
        <a:lstStyle/>
        <a:p>
          <a:endParaRPr lang="en-US"/>
        </a:p>
      </dgm:t>
    </dgm:pt>
    <dgm:pt modelId="{7736C9E2-F58A-4764-A686-C8B21BF852FF}">
      <dgm:prSet/>
      <dgm:spPr/>
      <dgm:t>
        <a:bodyPr/>
        <a:lstStyle/>
        <a:p>
          <a:r>
            <a:rPr lang="en-US" dirty="0"/>
            <a:t>Quant Small Cap Fund (IDCW); </a:t>
          </a:r>
        </a:p>
      </dgm:t>
    </dgm:pt>
    <dgm:pt modelId="{DE091BA1-5051-4461-A065-4C00B85262F2}" type="parTrans" cxnId="{C510B920-63F6-41BC-A27F-24AAEF2A58D4}">
      <dgm:prSet/>
      <dgm:spPr/>
      <dgm:t>
        <a:bodyPr/>
        <a:lstStyle/>
        <a:p>
          <a:endParaRPr lang="en-US"/>
        </a:p>
      </dgm:t>
    </dgm:pt>
    <dgm:pt modelId="{7C64E476-05BF-40B4-96C2-8C9F3FCB4152}" type="sibTrans" cxnId="{C510B920-63F6-41BC-A27F-24AAEF2A58D4}">
      <dgm:prSet/>
      <dgm:spPr/>
      <dgm:t>
        <a:bodyPr/>
        <a:lstStyle/>
        <a:p>
          <a:endParaRPr lang="en-US"/>
        </a:p>
      </dgm:t>
    </dgm:pt>
    <dgm:pt modelId="{522144F9-FE75-401C-B830-08C180D84B8A}">
      <dgm:prSet/>
      <dgm:spPr/>
      <dgm:t>
        <a:bodyPr/>
        <a:lstStyle/>
        <a:p>
          <a:r>
            <a:rPr lang="en-US" dirty="0"/>
            <a:t>Quant Small Cap Fund (G);</a:t>
          </a:r>
        </a:p>
      </dgm:t>
    </dgm:pt>
    <dgm:pt modelId="{39F91FC1-432C-40C6-94D1-72947FBE6B67}" type="parTrans" cxnId="{775E9CFA-84B0-43BE-BB9B-56F6E335BE3E}">
      <dgm:prSet/>
      <dgm:spPr/>
      <dgm:t>
        <a:bodyPr/>
        <a:lstStyle/>
        <a:p>
          <a:endParaRPr lang="en-US"/>
        </a:p>
      </dgm:t>
    </dgm:pt>
    <dgm:pt modelId="{9EE45978-104E-4063-A98D-A81CB3EBDD4F}" type="sibTrans" cxnId="{775E9CFA-84B0-43BE-BB9B-56F6E335BE3E}">
      <dgm:prSet/>
      <dgm:spPr/>
      <dgm:t>
        <a:bodyPr/>
        <a:lstStyle/>
        <a:p>
          <a:endParaRPr lang="en-US"/>
        </a:p>
      </dgm:t>
    </dgm:pt>
    <dgm:pt modelId="{E0E34C59-D91C-4E59-B069-EA2D03919BB5}">
      <dgm:prSet/>
      <dgm:spPr/>
      <dgm:t>
        <a:bodyPr/>
        <a:lstStyle/>
        <a:p>
          <a:r>
            <a:rPr lang="en-US" dirty="0"/>
            <a:t>Quant Mid Cap Fund (IDCW);</a:t>
          </a:r>
        </a:p>
      </dgm:t>
    </dgm:pt>
    <dgm:pt modelId="{CBA0C2D9-AAC4-4E08-B067-C2B01485A869}" type="parTrans" cxnId="{D5083B1C-E26F-4993-BBF0-EF2FCABE74D0}">
      <dgm:prSet/>
      <dgm:spPr/>
      <dgm:t>
        <a:bodyPr/>
        <a:lstStyle/>
        <a:p>
          <a:endParaRPr lang="en-US"/>
        </a:p>
      </dgm:t>
    </dgm:pt>
    <dgm:pt modelId="{86E82769-BBCB-4E19-B199-BEFE95AD6837}" type="sibTrans" cxnId="{D5083B1C-E26F-4993-BBF0-EF2FCABE74D0}">
      <dgm:prSet/>
      <dgm:spPr/>
      <dgm:t>
        <a:bodyPr/>
        <a:lstStyle/>
        <a:p>
          <a:endParaRPr lang="en-US"/>
        </a:p>
      </dgm:t>
    </dgm:pt>
    <dgm:pt modelId="{5B588D1C-5C31-4D53-B5BB-A2CC31731405}">
      <dgm:prSet/>
      <dgm:spPr/>
      <dgm:t>
        <a:bodyPr/>
        <a:lstStyle/>
        <a:p>
          <a:r>
            <a:rPr lang="en-US"/>
            <a:t>Most stable funds (lowest Stability Score)</a:t>
          </a:r>
        </a:p>
      </dgm:t>
    </dgm:pt>
    <dgm:pt modelId="{8FF22EE8-85D5-4738-B608-C73A8DEAD728}" type="parTrans" cxnId="{E8CFA152-4B40-498D-8281-6F28C22B503B}">
      <dgm:prSet/>
      <dgm:spPr/>
      <dgm:t>
        <a:bodyPr/>
        <a:lstStyle/>
        <a:p>
          <a:endParaRPr lang="en-US"/>
        </a:p>
      </dgm:t>
    </dgm:pt>
    <dgm:pt modelId="{278CDE07-5A88-4485-9790-7A61CBF4B45E}" type="sibTrans" cxnId="{E8CFA152-4B40-498D-8281-6F28C22B503B}">
      <dgm:prSet/>
      <dgm:spPr/>
      <dgm:t>
        <a:bodyPr/>
        <a:lstStyle/>
        <a:p>
          <a:endParaRPr lang="en-US"/>
        </a:p>
      </dgm:t>
    </dgm:pt>
    <dgm:pt modelId="{C8D194C7-2A4B-47FD-890D-4B0951AFBF60}">
      <dgm:prSet/>
      <dgm:spPr/>
      <dgm:t>
        <a:bodyPr/>
        <a:lstStyle/>
        <a:p>
          <a:r>
            <a:rPr lang="en-US" dirty="0"/>
            <a:t>DSP Liquidity Fund-Reg(G) score- 0.01;</a:t>
          </a:r>
        </a:p>
      </dgm:t>
    </dgm:pt>
    <dgm:pt modelId="{AC130FE2-F175-4BD7-96DA-389B64402E71}" type="parTrans" cxnId="{D0DEE903-E98E-43D3-BF40-EA7925AD8E0C}">
      <dgm:prSet/>
      <dgm:spPr/>
      <dgm:t>
        <a:bodyPr/>
        <a:lstStyle/>
        <a:p>
          <a:endParaRPr lang="en-US"/>
        </a:p>
      </dgm:t>
    </dgm:pt>
    <dgm:pt modelId="{0AA6C8E9-E1D9-42A5-953F-95DA47352A79}" type="sibTrans" cxnId="{D0DEE903-E98E-43D3-BF40-EA7925AD8E0C}">
      <dgm:prSet/>
      <dgm:spPr/>
      <dgm:t>
        <a:bodyPr/>
        <a:lstStyle/>
        <a:p>
          <a:endParaRPr lang="en-US"/>
        </a:p>
      </dgm:t>
    </dgm:pt>
    <dgm:pt modelId="{C318BBE4-8E26-4FD4-AC76-9354C3A0F34F}">
      <dgm:prSet/>
      <dgm:spPr/>
      <dgm:t>
        <a:bodyPr/>
        <a:lstStyle/>
        <a:p>
          <a:r>
            <a:rPr lang="en-US" dirty="0"/>
            <a:t>Bottom 3 Funds By CAGR 3 years</a:t>
          </a:r>
        </a:p>
      </dgm:t>
    </dgm:pt>
    <dgm:pt modelId="{F3CFE8BE-FB9F-47C1-A843-3E254E5532B8}" type="parTrans" cxnId="{F4EE1C71-F48C-46C3-A77B-DF296C1785F0}">
      <dgm:prSet/>
      <dgm:spPr/>
      <dgm:t>
        <a:bodyPr/>
        <a:lstStyle/>
        <a:p>
          <a:endParaRPr lang="en-US"/>
        </a:p>
      </dgm:t>
    </dgm:pt>
    <dgm:pt modelId="{CAD6A56A-C22B-4FE7-916B-CE654706AD26}" type="sibTrans" cxnId="{F4EE1C71-F48C-46C3-A77B-DF296C1785F0}">
      <dgm:prSet/>
      <dgm:spPr/>
      <dgm:t>
        <a:bodyPr/>
        <a:lstStyle/>
        <a:p>
          <a:endParaRPr lang="en-US"/>
        </a:p>
      </dgm:t>
    </dgm:pt>
    <dgm:pt modelId="{129690DA-5098-4A8C-8DC2-772DA75FCEC4}">
      <dgm:prSet/>
      <dgm:spPr/>
      <dgm:t>
        <a:bodyPr/>
        <a:lstStyle/>
        <a:p>
          <a:r>
            <a:rPr lang="en-US" dirty="0"/>
            <a:t>HSBC Brazil Fund, Nippon India Strategic debt</a:t>
          </a:r>
        </a:p>
      </dgm:t>
    </dgm:pt>
    <dgm:pt modelId="{D938DE5D-E9B8-4B09-A055-2D743078A734}" type="parTrans" cxnId="{C341148B-FB62-4E67-8EB5-9471F8F6CCE4}">
      <dgm:prSet/>
      <dgm:spPr/>
      <dgm:t>
        <a:bodyPr/>
        <a:lstStyle/>
        <a:p>
          <a:endParaRPr lang="en-US"/>
        </a:p>
      </dgm:t>
    </dgm:pt>
    <dgm:pt modelId="{6F8309DC-8B7A-46F0-9D40-59F9DB098165}" type="sibTrans" cxnId="{C341148B-FB62-4E67-8EB5-9471F8F6CCE4}">
      <dgm:prSet/>
      <dgm:spPr/>
      <dgm:t>
        <a:bodyPr/>
        <a:lstStyle/>
        <a:p>
          <a:endParaRPr lang="en-US"/>
        </a:p>
      </dgm:t>
    </dgm:pt>
    <dgm:pt modelId="{A605FFCF-EC64-48B1-B3FF-4F6A93D89FCE}">
      <dgm:prSet/>
      <dgm:spPr/>
      <dgm:t>
        <a:bodyPr/>
        <a:lstStyle/>
        <a:p>
          <a:r>
            <a:rPr lang="en-US"/>
            <a:t>Category winners by avg 3Y CAGR</a:t>
          </a:r>
        </a:p>
      </dgm:t>
    </dgm:pt>
    <dgm:pt modelId="{15A72BC3-7A18-410E-AD72-E2B768121950}" type="parTrans" cxnId="{C3B86DA1-6ABC-400F-95CB-24B9AD2D3A28}">
      <dgm:prSet/>
      <dgm:spPr/>
      <dgm:t>
        <a:bodyPr/>
        <a:lstStyle/>
        <a:p>
          <a:endParaRPr lang="en-US"/>
        </a:p>
      </dgm:t>
    </dgm:pt>
    <dgm:pt modelId="{C1FAD7B2-0A9B-4444-8BF0-6C1B0EF90A59}" type="sibTrans" cxnId="{C3B86DA1-6ABC-400F-95CB-24B9AD2D3A28}">
      <dgm:prSet/>
      <dgm:spPr/>
      <dgm:t>
        <a:bodyPr/>
        <a:lstStyle/>
        <a:p>
          <a:endParaRPr lang="en-US"/>
        </a:p>
      </dgm:t>
    </dgm:pt>
    <dgm:pt modelId="{05F7F625-1767-4E72-93B0-F16F03BF1EB8}">
      <dgm:prSet/>
      <dgm:spPr/>
      <dgm:t>
        <a:bodyPr/>
        <a:lstStyle/>
        <a:p>
          <a:r>
            <a:rPr lang="en-US" dirty="0" err="1"/>
            <a:t>FoFs</a:t>
          </a:r>
          <a:r>
            <a:rPr lang="en-US" dirty="0"/>
            <a:t> (Domestic/Overseas) leads; Index Funds trails</a:t>
          </a:r>
        </a:p>
      </dgm:t>
    </dgm:pt>
    <dgm:pt modelId="{D4778A9A-2CC9-462E-81FA-851E9DF87243}" type="parTrans" cxnId="{A75E3B90-F7C7-4707-B7C9-4CFC2F6C2A9C}">
      <dgm:prSet/>
      <dgm:spPr/>
      <dgm:t>
        <a:bodyPr/>
        <a:lstStyle/>
        <a:p>
          <a:endParaRPr lang="en-US"/>
        </a:p>
      </dgm:t>
    </dgm:pt>
    <dgm:pt modelId="{4D54B5F6-5E12-4045-8BD1-10A19E65E7CA}" type="sibTrans" cxnId="{A75E3B90-F7C7-4707-B7C9-4CFC2F6C2A9C}">
      <dgm:prSet/>
      <dgm:spPr/>
      <dgm:t>
        <a:bodyPr/>
        <a:lstStyle/>
        <a:p>
          <a:endParaRPr lang="en-US"/>
        </a:p>
      </dgm:t>
    </dgm:pt>
    <dgm:pt modelId="{73108997-52DC-4671-93ED-CA32BA18E189}" type="pres">
      <dgm:prSet presAssocID="{3A278159-517B-4074-97C5-1358CD4CF081}" presName="vert0" presStyleCnt="0">
        <dgm:presLayoutVars>
          <dgm:dir/>
          <dgm:animOne val="branch"/>
          <dgm:animLvl val="lvl"/>
        </dgm:presLayoutVars>
      </dgm:prSet>
      <dgm:spPr/>
    </dgm:pt>
    <dgm:pt modelId="{704A63E0-5711-4AE6-A3EE-0C9E03924889}" type="pres">
      <dgm:prSet presAssocID="{30717C64-9568-4BE1-B1F1-866DA68A6846}" presName="thickLine" presStyleLbl="alignNode1" presStyleIdx="0" presStyleCnt="4"/>
      <dgm:spPr/>
    </dgm:pt>
    <dgm:pt modelId="{7D643E7E-5B1C-4EAA-BEBE-ADBC6561094B}" type="pres">
      <dgm:prSet presAssocID="{30717C64-9568-4BE1-B1F1-866DA68A6846}" presName="horz1" presStyleCnt="0"/>
      <dgm:spPr/>
    </dgm:pt>
    <dgm:pt modelId="{93996C8D-6515-40BC-B571-CC9974C404EE}" type="pres">
      <dgm:prSet presAssocID="{30717C64-9568-4BE1-B1F1-866DA68A6846}" presName="tx1" presStyleLbl="revTx" presStyleIdx="0" presStyleCnt="10"/>
      <dgm:spPr/>
    </dgm:pt>
    <dgm:pt modelId="{E0EDEC42-AE75-4484-97A6-B98ABCB4FBF4}" type="pres">
      <dgm:prSet presAssocID="{30717C64-9568-4BE1-B1F1-866DA68A6846}" presName="vert1" presStyleCnt="0"/>
      <dgm:spPr/>
    </dgm:pt>
    <dgm:pt modelId="{9F1D6CCE-746D-44A3-AF1E-38E46162B7B1}" type="pres">
      <dgm:prSet presAssocID="{7736C9E2-F58A-4764-A686-C8B21BF852FF}" presName="vertSpace2a" presStyleCnt="0"/>
      <dgm:spPr/>
    </dgm:pt>
    <dgm:pt modelId="{86D5A6F7-87F6-45AB-BAA8-F4178B3C973A}" type="pres">
      <dgm:prSet presAssocID="{7736C9E2-F58A-4764-A686-C8B21BF852FF}" presName="horz2" presStyleCnt="0"/>
      <dgm:spPr/>
    </dgm:pt>
    <dgm:pt modelId="{1251CCF4-7571-45E9-9714-23B7B9D7F996}" type="pres">
      <dgm:prSet presAssocID="{7736C9E2-F58A-4764-A686-C8B21BF852FF}" presName="horzSpace2" presStyleCnt="0"/>
      <dgm:spPr/>
    </dgm:pt>
    <dgm:pt modelId="{8BAB997D-223B-4DC2-AA25-99F88F65328E}" type="pres">
      <dgm:prSet presAssocID="{7736C9E2-F58A-4764-A686-C8B21BF852FF}" presName="tx2" presStyleLbl="revTx" presStyleIdx="1" presStyleCnt="10"/>
      <dgm:spPr/>
    </dgm:pt>
    <dgm:pt modelId="{50612DF4-1ABA-4D43-A537-B951652F94CA}" type="pres">
      <dgm:prSet presAssocID="{7736C9E2-F58A-4764-A686-C8B21BF852FF}" presName="vert2" presStyleCnt="0"/>
      <dgm:spPr/>
    </dgm:pt>
    <dgm:pt modelId="{41B324E5-3F36-409E-B18C-832DCAA0B397}" type="pres">
      <dgm:prSet presAssocID="{7736C9E2-F58A-4764-A686-C8B21BF852FF}" presName="thinLine2b" presStyleLbl="callout" presStyleIdx="0" presStyleCnt="6"/>
      <dgm:spPr/>
    </dgm:pt>
    <dgm:pt modelId="{4344A893-F199-425C-B82C-8A2484945CB4}" type="pres">
      <dgm:prSet presAssocID="{7736C9E2-F58A-4764-A686-C8B21BF852FF}" presName="vertSpace2b" presStyleCnt="0"/>
      <dgm:spPr/>
    </dgm:pt>
    <dgm:pt modelId="{98D3D230-5D90-43FD-AC96-9EDC849168B9}" type="pres">
      <dgm:prSet presAssocID="{522144F9-FE75-401C-B830-08C180D84B8A}" presName="horz2" presStyleCnt="0"/>
      <dgm:spPr/>
    </dgm:pt>
    <dgm:pt modelId="{304CC7A4-9A22-4B69-B818-C5E6F7C1F863}" type="pres">
      <dgm:prSet presAssocID="{522144F9-FE75-401C-B830-08C180D84B8A}" presName="horzSpace2" presStyleCnt="0"/>
      <dgm:spPr/>
    </dgm:pt>
    <dgm:pt modelId="{0E920DDB-98AC-432E-93E9-34D56F63A751}" type="pres">
      <dgm:prSet presAssocID="{522144F9-FE75-401C-B830-08C180D84B8A}" presName="tx2" presStyleLbl="revTx" presStyleIdx="2" presStyleCnt="10"/>
      <dgm:spPr/>
    </dgm:pt>
    <dgm:pt modelId="{FFC73632-1469-4A57-AAED-F7E8D9B24015}" type="pres">
      <dgm:prSet presAssocID="{522144F9-FE75-401C-B830-08C180D84B8A}" presName="vert2" presStyleCnt="0"/>
      <dgm:spPr/>
    </dgm:pt>
    <dgm:pt modelId="{85787DFC-3053-43C1-9B4C-052A30E064DF}" type="pres">
      <dgm:prSet presAssocID="{522144F9-FE75-401C-B830-08C180D84B8A}" presName="thinLine2b" presStyleLbl="callout" presStyleIdx="1" presStyleCnt="6"/>
      <dgm:spPr/>
    </dgm:pt>
    <dgm:pt modelId="{D71F313D-8A9C-4BD8-9FEE-7965E6AA74D4}" type="pres">
      <dgm:prSet presAssocID="{522144F9-FE75-401C-B830-08C180D84B8A}" presName="vertSpace2b" presStyleCnt="0"/>
      <dgm:spPr/>
    </dgm:pt>
    <dgm:pt modelId="{A9C84E8E-04B7-40FF-AD67-64C599299487}" type="pres">
      <dgm:prSet presAssocID="{E0E34C59-D91C-4E59-B069-EA2D03919BB5}" presName="horz2" presStyleCnt="0"/>
      <dgm:spPr/>
    </dgm:pt>
    <dgm:pt modelId="{44A5B5F9-6899-427C-A4FA-9565C0D4A5D2}" type="pres">
      <dgm:prSet presAssocID="{E0E34C59-D91C-4E59-B069-EA2D03919BB5}" presName="horzSpace2" presStyleCnt="0"/>
      <dgm:spPr/>
    </dgm:pt>
    <dgm:pt modelId="{C2A4B44F-578E-43EB-918C-BCFA6FFB3082}" type="pres">
      <dgm:prSet presAssocID="{E0E34C59-D91C-4E59-B069-EA2D03919BB5}" presName="tx2" presStyleLbl="revTx" presStyleIdx="3" presStyleCnt="10"/>
      <dgm:spPr/>
    </dgm:pt>
    <dgm:pt modelId="{BAA474DF-0A17-46A9-97A7-AD69458CCADC}" type="pres">
      <dgm:prSet presAssocID="{E0E34C59-D91C-4E59-B069-EA2D03919BB5}" presName="vert2" presStyleCnt="0"/>
      <dgm:spPr/>
    </dgm:pt>
    <dgm:pt modelId="{AE21131A-F668-4D26-B2F3-B79497784A21}" type="pres">
      <dgm:prSet presAssocID="{E0E34C59-D91C-4E59-B069-EA2D03919BB5}" presName="thinLine2b" presStyleLbl="callout" presStyleIdx="2" presStyleCnt="6"/>
      <dgm:spPr/>
    </dgm:pt>
    <dgm:pt modelId="{4686BEBB-C29B-40A2-865C-B400B721945D}" type="pres">
      <dgm:prSet presAssocID="{E0E34C59-D91C-4E59-B069-EA2D03919BB5}" presName="vertSpace2b" presStyleCnt="0"/>
      <dgm:spPr/>
    </dgm:pt>
    <dgm:pt modelId="{E826FE22-A82B-424F-8EE4-C0D0A7FF93E4}" type="pres">
      <dgm:prSet presAssocID="{5B588D1C-5C31-4D53-B5BB-A2CC31731405}" presName="thickLine" presStyleLbl="alignNode1" presStyleIdx="1" presStyleCnt="4"/>
      <dgm:spPr/>
    </dgm:pt>
    <dgm:pt modelId="{23B19C91-4FCF-47C2-945B-38242FD73F4F}" type="pres">
      <dgm:prSet presAssocID="{5B588D1C-5C31-4D53-B5BB-A2CC31731405}" presName="horz1" presStyleCnt="0"/>
      <dgm:spPr/>
    </dgm:pt>
    <dgm:pt modelId="{7970AFAF-AFD6-4EED-8D66-B69F661097CA}" type="pres">
      <dgm:prSet presAssocID="{5B588D1C-5C31-4D53-B5BB-A2CC31731405}" presName="tx1" presStyleLbl="revTx" presStyleIdx="4" presStyleCnt="10"/>
      <dgm:spPr/>
    </dgm:pt>
    <dgm:pt modelId="{60905ECB-50F2-43F8-AD87-B8C2EE24B939}" type="pres">
      <dgm:prSet presAssocID="{5B588D1C-5C31-4D53-B5BB-A2CC31731405}" presName="vert1" presStyleCnt="0"/>
      <dgm:spPr/>
    </dgm:pt>
    <dgm:pt modelId="{F3AA7462-A745-4D07-9523-856726F2EDBE}" type="pres">
      <dgm:prSet presAssocID="{C8D194C7-2A4B-47FD-890D-4B0951AFBF60}" presName="vertSpace2a" presStyleCnt="0"/>
      <dgm:spPr/>
    </dgm:pt>
    <dgm:pt modelId="{7EA5CBA0-D3D3-4B98-975C-73204D2402E0}" type="pres">
      <dgm:prSet presAssocID="{C8D194C7-2A4B-47FD-890D-4B0951AFBF60}" presName="horz2" presStyleCnt="0"/>
      <dgm:spPr/>
    </dgm:pt>
    <dgm:pt modelId="{C60996D5-6EC9-4724-95FF-30852BFADC9A}" type="pres">
      <dgm:prSet presAssocID="{C8D194C7-2A4B-47FD-890D-4B0951AFBF60}" presName="horzSpace2" presStyleCnt="0"/>
      <dgm:spPr/>
    </dgm:pt>
    <dgm:pt modelId="{D43787AB-6DA7-4209-AE56-A12538BE58CB}" type="pres">
      <dgm:prSet presAssocID="{C8D194C7-2A4B-47FD-890D-4B0951AFBF60}" presName="tx2" presStyleLbl="revTx" presStyleIdx="5" presStyleCnt="10"/>
      <dgm:spPr/>
    </dgm:pt>
    <dgm:pt modelId="{7A0F5559-5738-4BC7-9A01-9187D92D667C}" type="pres">
      <dgm:prSet presAssocID="{C8D194C7-2A4B-47FD-890D-4B0951AFBF60}" presName="vert2" presStyleCnt="0"/>
      <dgm:spPr/>
    </dgm:pt>
    <dgm:pt modelId="{3766D13B-010D-4D5F-A203-A02378B58AFE}" type="pres">
      <dgm:prSet presAssocID="{C8D194C7-2A4B-47FD-890D-4B0951AFBF60}" presName="thinLine2b" presStyleLbl="callout" presStyleIdx="3" presStyleCnt="6"/>
      <dgm:spPr/>
    </dgm:pt>
    <dgm:pt modelId="{0BC01980-883C-42C2-BD9F-6311C06AF387}" type="pres">
      <dgm:prSet presAssocID="{C8D194C7-2A4B-47FD-890D-4B0951AFBF60}" presName="vertSpace2b" presStyleCnt="0"/>
      <dgm:spPr/>
    </dgm:pt>
    <dgm:pt modelId="{6E831A8E-9D7E-478D-B78B-7E42E2661DC6}" type="pres">
      <dgm:prSet presAssocID="{C318BBE4-8E26-4FD4-AC76-9354C3A0F34F}" presName="thickLine" presStyleLbl="alignNode1" presStyleIdx="2" presStyleCnt="4"/>
      <dgm:spPr/>
    </dgm:pt>
    <dgm:pt modelId="{707E98D1-D55E-4042-A255-8DDE14E905D3}" type="pres">
      <dgm:prSet presAssocID="{C318BBE4-8E26-4FD4-AC76-9354C3A0F34F}" presName="horz1" presStyleCnt="0"/>
      <dgm:spPr/>
    </dgm:pt>
    <dgm:pt modelId="{5B3C0D19-3C21-4F3F-B7F1-948145F8BF4F}" type="pres">
      <dgm:prSet presAssocID="{C318BBE4-8E26-4FD4-AC76-9354C3A0F34F}" presName="tx1" presStyleLbl="revTx" presStyleIdx="6" presStyleCnt="10"/>
      <dgm:spPr/>
    </dgm:pt>
    <dgm:pt modelId="{0443A6E6-29FC-4022-BA3E-865C39EC31D6}" type="pres">
      <dgm:prSet presAssocID="{C318BBE4-8E26-4FD4-AC76-9354C3A0F34F}" presName="vert1" presStyleCnt="0"/>
      <dgm:spPr/>
    </dgm:pt>
    <dgm:pt modelId="{207F2128-CFCE-4F25-B702-5A56C25EBE20}" type="pres">
      <dgm:prSet presAssocID="{129690DA-5098-4A8C-8DC2-772DA75FCEC4}" presName="vertSpace2a" presStyleCnt="0"/>
      <dgm:spPr/>
    </dgm:pt>
    <dgm:pt modelId="{7578C1ED-59FC-48AD-9C40-D2B28DCE2B9E}" type="pres">
      <dgm:prSet presAssocID="{129690DA-5098-4A8C-8DC2-772DA75FCEC4}" presName="horz2" presStyleCnt="0"/>
      <dgm:spPr/>
    </dgm:pt>
    <dgm:pt modelId="{28FEB830-2577-4E51-AB63-21814B00E266}" type="pres">
      <dgm:prSet presAssocID="{129690DA-5098-4A8C-8DC2-772DA75FCEC4}" presName="horzSpace2" presStyleCnt="0"/>
      <dgm:spPr/>
    </dgm:pt>
    <dgm:pt modelId="{6DCA064E-C242-4551-A2B4-8E74D5AE5416}" type="pres">
      <dgm:prSet presAssocID="{129690DA-5098-4A8C-8DC2-772DA75FCEC4}" presName="tx2" presStyleLbl="revTx" presStyleIdx="7" presStyleCnt="10"/>
      <dgm:spPr/>
    </dgm:pt>
    <dgm:pt modelId="{C8615939-00C5-4A96-ACAA-7B330650D711}" type="pres">
      <dgm:prSet presAssocID="{129690DA-5098-4A8C-8DC2-772DA75FCEC4}" presName="vert2" presStyleCnt="0"/>
      <dgm:spPr/>
    </dgm:pt>
    <dgm:pt modelId="{659D6E17-38A9-4DA3-BE0D-761938B4BF32}" type="pres">
      <dgm:prSet presAssocID="{129690DA-5098-4A8C-8DC2-772DA75FCEC4}" presName="thinLine2b" presStyleLbl="callout" presStyleIdx="4" presStyleCnt="6"/>
      <dgm:spPr/>
    </dgm:pt>
    <dgm:pt modelId="{F104C5E9-C7C2-4A5F-B05D-1FDF6D1930F2}" type="pres">
      <dgm:prSet presAssocID="{129690DA-5098-4A8C-8DC2-772DA75FCEC4}" presName="vertSpace2b" presStyleCnt="0"/>
      <dgm:spPr/>
    </dgm:pt>
    <dgm:pt modelId="{1598F6CF-08C2-4001-AABD-9FAF0019D9FA}" type="pres">
      <dgm:prSet presAssocID="{A605FFCF-EC64-48B1-B3FF-4F6A93D89FCE}" presName="thickLine" presStyleLbl="alignNode1" presStyleIdx="3" presStyleCnt="4"/>
      <dgm:spPr/>
    </dgm:pt>
    <dgm:pt modelId="{AA81977A-54FF-4717-BC10-C09C4D1F78BD}" type="pres">
      <dgm:prSet presAssocID="{A605FFCF-EC64-48B1-B3FF-4F6A93D89FCE}" presName="horz1" presStyleCnt="0"/>
      <dgm:spPr/>
    </dgm:pt>
    <dgm:pt modelId="{1EECC33F-4A7A-4E35-AB49-AA2ADF5E4ED1}" type="pres">
      <dgm:prSet presAssocID="{A605FFCF-EC64-48B1-B3FF-4F6A93D89FCE}" presName="tx1" presStyleLbl="revTx" presStyleIdx="8" presStyleCnt="10"/>
      <dgm:spPr/>
    </dgm:pt>
    <dgm:pt modelId="{BFE3B27E-8161-48C4-831A-8E16EC17CF32}" type="pres">
      <dgm:prSet presAssocID="{A605FFCF-EC64-48B1-B3FF-4F6A93D89FCE}" presName="vert1" presStyleCnt="0"/>
      <dgm:spPr/>
    </dgm:pt>
    <dgm:pt modelId="{97163976-A848-46F5-811F-D0702D6BD22F}" type="pres">
      <dgm:prSet presAssocID="{05F7F625-1767-4E72-93B0-F16F03BF1EB8}" presName="vertSpace2a" presStyleCnt="0"/>
      <dgm:spPr/>
    </dgm:pt>
    <dgm:pt modelId="{B3210300-42AD-43CE-8282-57051541C789}" type="pres">
      <dgm:prSet presAssocID="{05F7F625-1767-4E72-93B0-F16F03BF1EB8}" presName="horz2" presStyleCnt="0"/>
      <dgm:spPr/>
    </dgm:pt>
    <dgm:pt modelId="{665B36CA-51D4-4A39-B66D-9411E9FB12C8}" type="pres">
      <dgm:prSet presAssocID="{05F7F625-1767-4E72-93B0-F16F03BF1EB8}" presName="horzSpace2" presStyleCnt="0"/>
      <dgm:spPr/>
    </dgm:pt>
    <dgm:pt modelId="{80760CA2-6918-4AA7-844B-E853682BC7B7}" type="pres">
      <dgm:prSet presAssocID="{05F7F625-1767-4E72-93B0-F16F03BF1EB8}" presName="tx2" presStyleLbl="revTx" presStyleIdx="9" presStyleCnt="10"/>
      <dgm:spPr/>
    </dgm:pt>
    <dgm:pt modelId="{61922486-5268-47B2-8209-08BC8762D255}" type="pres">
      <dgm:prSet presAssocID="{05F7F625-1767-4E72-93B0-F16F03BF1EB8}" presName="vert2" presStyleCnt="0"/>
      <dgm:spPr/>
    </dgm:pt>
    <dgm:pt modelId="{B4F5529E-075C-4A9F-8A23-9810057B48A0}" type="pres">
      <dgm:prSet presAssocID="{05F7F625-1767-4E72-93B0-F16F03BF1EB8}" presName="thinLine2b" presStyleLbl="callout" presStyleIdx="5" presStyleCnt="6"/>
      <dgm:spPr/>
    </dgm:pt>
    <dgm:pt modelId="{EDA76F86-D842-433D-AEEA-C69E700422D2}" type="pres">
      <dgm:prSet presAssocID="{05F7F625-1767-4E72-93B0-F16F03BF1EB8}" presName="vertSpace2b" presStyleCnt="0"/>
      <dgm:spPr/>
    </dgm:pt>
  </dgm:ptLst>
  <dgm:cxnLst>
    <dgm:cxn modelId="{D0DEE903-E98E-43D3-BF40-EA7925AD8E0C}" srcId="{5B588D1C-5C31-4D53-B5BB-A2CC31731405}" destId="{C8D194C7-2A4B-47FD-890D-4B0951AFBF60}" srcOrd="0" destOrd="0" parTransId="{AC130FE2-F175-4BD7-96DA-389B64402E71}" sibTransId="{0AA6C8E9-E1D9-42A5-953F-95DA47352A79}"/>
    <dgm:cxn modelId="{11A0F01A-E3B0-4B1B-88D4-6A56104B501D}" type="presOf" srcId="{C318BBE4-8E26-4FD4-AC76-9354C3A0F34F}" destId="{5B3C0D19-3C21-4F3F-B7F1-948145F8BF4F}" srcOrd="0" destOrd="0" presId="urn:microsoft.com/office/officeart/2008/layout/LinedList"/>
    <dgm:cxn modelId="{D5083B1C-E26F-4993-BBF0-EF2FCABE74D0}" srcId="{30717C64-9568-4BE1-B1F1-866DA68A6846}" destId="{E0E34C59-D91C-4E59-B069-EA2D03919BB5}" srcOrd="2" destOrd="0" parTransId="{CBA0C2D9-AAC4-4E08-B067-C2B01485A869}" sibTransId="{86E82769-BBCB-4E19-B199-BEFE95AD6837}"/>
    <dgm:cxn modelId="{C510B920-63F6-41BC-A27F-24AAEF2A58D4}" srcId="{30717C64-9568-4BE1-B1F1-866DA68A6846}" destId="{7736C9E2-F58A-4764-A686-C8B21BF852FF}" srcOrd="0" destOrd="0" parTransId="{DE091BA1-5051-4461-A065-4C00B85262F2}" sibTransId="{7C64E476-05BF-40B4-96C2-8C9F3FCB4152}"/>
    <dgm:cxn modelId="{05EC072E-A34A-48A0-A12B-77D92B939F3C}" type="presOf" srcId="{A605FFCF-EC64-48B1-B3FF-4F6A93D89FCE}" destId="{1EECC33F-4A7A-4E35-AB49-AA2ADF5E4ED1}" srcOrd="0" destOrd="0" presId="urn:microsoft.com/office/officeart/2008/layout/LinedList"/>
    <dgm:cxn modelId="{B593B132-459B-4F2B-AB40-806FE363FE5D}" type="presOf" srcId="{05F7F625-1767-4E72-93B0-F16F03BF1EB8}" destId="{80760CA2-6918-4AA7-844B-E853682BC7B7}" srcOrd="0" destOrd="0" presId="urn:microsoft.com/office/officeart/2008/layout/LinedList"/>
    <dgm:cxn modelId="{3CAC1A3E-F0A7-4B0A-ABBB-A2307D0B3233}" type="presOf" srcId="{C8D194C7-2A4B-47FD-890D-4B0951AFBF60}" destId="{D43787AB-6DA7-4209-AE56-A12538BE58CB}" srcOrd="0" destOrd="0" presId="urn:microsoft.com/office/officeart/2008/layout/LinedList"/>
    <dgm:cxn modelId="{95D87646-6F8D-497A-8706-2C2F8B949DFF}" type="presOf" srcId="{7736C9E2-F58A-4764-A686-C8B21BF852FF}" destId="{8BAB997D-223B-4DC2-AA25-99F88F65328E}" srcOrd="0" destOrd="0" presId="urn:microsoft.com/office/officeart/2008/layout/LinedList"/>
    <dgm:cxn modelId="{F4EE1C71-F48C-46C3-A77B-DF296C1785F0}" srcId="{3A278159-517B-4074-97C5-1358CD4CF081}" destId="{C318BBE4-8E26-4FD4-AC76-9354C3A0F34F}" srcOrd="2" destOrd="0" parTransId="{F3CFE8BE-FB9F-47C1-A843-3E254E5532B8}" sibTransId="{CAD6A56A-C22B-4FE7-916B-CE654706AD26}"/>
    <dgm:cxn modelId="{E8CFA152-4B40-498D-8281-6F28C22B503B}" srcId="{3A278159-517B-4074-97C5-1358CD4CF081}" destId="{5B588D1C-5C31-4D53-B5BB-A2CC31731405}" srcOrd="1" destOrd="0" parTransId="{8FF22EE8-85D5-4738-B608-C73A8DEAD728}" sibTransId="{278CDE07-5A88-4485-9790-7A61CBF4B45E}"/>
    <dgm:cxn modelId="{066E6A75-41B6-44B2-8402-CF7C1B3E9C20}" srcId="{3A278159-517B-4074-97C5-1358CD4CF081}" destId="{30717C64-9568-4BE1-B1F1-866DA68A6846}" srcOrd="0" destOrd="0" parTransId="{4C43722E-0291-4C35-952B-6C17B494C553}" sibTransId="{CCD17215-5F76-4EC6-84CC-AF3668AD4259}"/>
    <dgm:cxn modelId="{8D7BA07D-F1AA-4BA8-9305-485B33856594}" type="presOf" srcId="{522144F9-FE75-401C-B830-08C180D84B8A}" destId="{0E920DDB-98AC-432E-93E9-34D56F63A751}" srcOrd="0" destOrd="0" presId="urn:microsoft.com/office/officeart/2008/layout/LinedList"/>
    <dgm:cxn modelId="{C341148B-FB62-4E67-8EB5-9471F8F6CCE4}" srcId="{C318BBE4-8E26-4FD4-AC76-9354C3A0F34F}" destId="{129690DA-5098-4A8C-8DC2-772DA75FCEC4}" srcOrd="0" destOrd="0" parTransId="{D938DE5D-E9B8-4B09-A055-2D743078A734}" sibTransId="{6F8309DC-8B7A-46F0-9D40-59F9DB098165}"/>
    <dgm:cxn modelId="{A75E3B90-F7C7-4707-B7C9-4CFC2F6C2A9C}" srcId="{A605FFCF-EC64-48B1-B3FF-4F6A93D89FCE}" destId="{05F7F625-1767-4E72-93B0-F16F03BF1EB8}" srcOrd="0" destOrd="0" parTransId="{D4778A9A-2CC9-462E-81FA-851E9DF87243}" sibTransId="{4D54B5F6-5E12-4045-8BD1-10A19E65E7CA}"/>
    <dgm:cxn modelId="{68D306A1-90AC-411C-A713-F9AA9EC8811E}" type="presOf" srcId="{5B588D1C-5C31-4D53-B5BB-A2CC31731405}" destId="{7970AFAF-AFD6-4EED-8D66-B69F661097CA}" srcOrd="0" destOrd="0" presId="urn:microsoft.com/office/officeart/2008/layout/LinedList"/>
    <dgm:cxn modelId="{C3B86DA1-6ABC-400F-95CB-24B9AD2D3A28}" srcId="{3A278159-517B-4074-97C5-1358CD4CF081}" destId="{A605FFCF-EC64-48B1-B3FF-4F6A93D89FCE}" srcOrd="3" destOrd="0" parTransId="{15A72BC3-7A18-410E-AD72-E2B768121950}" sibTransId="{C1FAD7B2-0A9B-4444-8BF0-6C1B0EF90A59}"/>
    <dgm:cxn modelId="{320B4FA8-7A27-40FB-AFB8-52F48B1A0C8A}" type="presOf" srcId="{129690DA-5098-4A8C-8DC2-772DA75FCEC4}" destId="{6DCA064E-C242-4551-A2B4-8E74D5AE5416}" srcOrd="0" destOrd="0" presId="urn:microsoft.com/office/officeart/2008/layout/LinedList"/>
    <dgm:cxn modelId="{9AD44EC9-2054-4069-8C27-EA9B11270C05}" type="presOf" srcId="{3A278159-517B-4074-97C5-1358CD4CF081}" destId="{73108997-52DC-4671-93ED-CA32BA18E189}" srcOrd="0" destOrd="0" presId="urn:microsoft.com/office/officeart/2008/layout/LinedList"/>
    <dgm:cxn modelId="{731BDCCA-EE6A-4195-8CFC-D04E98E23C21}" type="presOf" srcId="{E0E34C59-D91C-4E59-B069-EA2D03919BB5}" destId="{C2A4B44F-578E-43EB-918C-BCFA6FFB3082}" srcOrd="0" destOrd="0" presId="urn:microsoft.com/office/officeart/2008/layout/LinedList"/>
    <dgm:cxn modelId="{EAFBA9E2-A350-4F87-A25B-B118F23413B9}" type="presOf" srcId="{30717C64-9568-4BE1-B1F1-866DA68A6846}" destId="{93996C8D-6515-40BC-B571-CC9974C404EE}" srcOrd="0" destOrd="0" presId="urn:microsoft.com/office/officeart/2008/layout/LinedList"/>
    <dgm:cxn modelId="{775E9CFA-84B0-43BE-BB9B-56F6E335BE3E}" srcId="{30717C64-9568-4BE1-B1F1-866DA68A6846}" destId="{522144F9-FE75-401C-B830-08C180D84B8A}" srcOrd="1" destOrd="0" parTransId="{39F91FC1-432C-40C6-94D1-72947FBE6B67}" sibTransId="{9EE45978-104E-4063-A98D-A81CB3EBDD4F}"/>
    <dgm:cxn modelId="{1E1618EF-52A9-49FB-93E7-C3CA60FE2D56}" type="presParOf" srcId="{73108997-52DC-4671-93ED-CA32BA18E189}" destId="{704A63E0-5711-4AE6-A3EE-0C9E03924889}" srcOrd="0" destOrd="0" presId="urn:microsoft.com/office/officeart/2008/layout/LinedList"/>
    <dgm:cxn modelId="{CED3D757-4357-4424-B3B9-4730B6D491EE}" type="presParOf" srcId="{73108997-52DC-4671-93ED-CA32BA18E189}" destId="{7D643E7E-5B1C-4EAA-BEBE-ADBC6561094B}" srcOrd="1" destOrd="0" presId="urn:microsoft.com/office/officeart/2008/layout/LinedList"/>
    <dgm:cxn modelId="{C4E956BF-2E84-4DB5-ADFA-7FD49EC26B38}" type="presParOf" srcId="{7D643E7E-5B1C-4EAA-BEBE-ADBC6561094B}" destId="{93996C8D-6515-40BC-B571-CC9974C404EE}" srcOrd="0" destOrd="0" presId="urn:microsoft.com/office/officeart/2008/layout/LinedList"/>
    <dgm:cxn modelId="{2B3DF9B2-6510-4E5A-8103-9749D7DDA572}" type="presParOf" srcId="{7D643E7E-5B1C-4EAA-BEBE-ADBC6561094B}" destId="{E0EDEC42-AE75-4484-97A6-B98ABCB4FBF4}" srcOrd="1" destOrd="0" presId="urn:microsoft.com/office/officeart/2008/layout/LinedList"/>
    <dgm:cxn modelId="{5803606C-F44B-4D13-A963-4D92154254B6}" type="presParOf" srcId="{E0EDEC42-AE75-4484-97A6-B98ABCB4FBF4}" destId="{9F1D6CCE-746D-44A3-AF1E-38E46162B7B1}" srcOrd="0" destOrd="0" presId="urn:microsoft.com/office/officeart/2008/layout/LinedList"/>
    <dgm:cxn modelId="{8E0EBCAC-4F65-4159-A64A-4B399FC9187E}" type="presParOf" srcId="{E0EDEC42-AE75-4484-97A6-B98ABCB4FBF4}" destId="{86D5A6F7-87F6-45AB-BAA8-F4178B3C973A}" srcOrd="1" destOrd="0" presId="urn:microsoft.com/office/officeart/2008/layout/LinedList"/>
    <dgm:cxn modelId="{AB34FC5D-D9D4-4C02-AEA5-E751BADCAFA3}" type="presParOf" srcId="{86D5A6F7-87F6-45AB-BAA8-F4178B3C973A}" destId="{1251CCF4-7571-45E9-9714-23B7B9D7F996}" srcOrd="0" destOrd="0" presId="urn:microsoft.com/office/officeart/2008/layout/LinedList"/>
    <dgm:cxn modelId="{7084D8EA-C16E-4BC8-856D-5001A059CF3E}" type="presParOf" srcId="{86D5A6F7-87F6-45AB-BAA8-F4178B3C973A}" destId="{8BAB997D-223B-4DC2-AA25-99F88F65328E}" srcOrd="1" destOrd="0" presId="urn:microsoft.com/office/officeart/2008/layout/LinedList"/>
    <dgm:cxn modelId="{45059A59-EFCD-4473-A89B-858CE2FC3781}" type="presParOf" srcId="{86D5A6F7-87F6-45AB-BAA8-F4178B3C973A}" destId="{50612DF4-1ABA-4D43-A537-B951652F94CA}" srcOrd="2" destOrd="0" presId="urn:microsoft.com/office/officeart/2008/layout/LinedList"/>
    <dgm:cxn modelId="{19777122-1F4C-4C81-92C2-F48D32F6B980}" type="presParOf" srcId="{E0EDEC42-AE75-4484-97A6-B98ABCB4FBF4}" destId="{41B324E5-3F36-409E-B18C-832DCAA0B397}" srcOrd="2" destOrd="0" presId="urn:microsoft.com/office/officeart/2008/layout/LinedList"/>
    <dgm:cxn modelId="{B48C4E1D-ABA6-432F-90E7-AB400F2A2659}" type="presParOf" srcId="{E0EDEC42-AE75-4484-97A6-B98ABCB4FBF4}" destId="{4344A893-F199-425C-B82C-8A2484945CB4}" srcOrd="3" destOrd="0" presId="urn:microsoft.com/office/officeart/2008/layout/LinedList"/>
    <dgm:cxn modelId="{0ABC585F-16D5-4684-A736-AFC28A77A577}" type="presParOf" srcId="{E0EDEC42-AE75-4484-97A6-B98ABCB4FBF4}" destId="{98D3D230-5D90-43FD-AC96-9EDC849168B9}" srcOrd="4" destOrd="0" presId="urn:microsoft.com/office/officeart/2008/layout/LinedList"/>
    <dgm:cxn modelId="{B21FA520-9B92-4843-9B2B-A84CE0601F0B}" type="presParOf" srcId="{98D3D230-5D90-43FD-AC96-9EDC849168B9}" destId="{304CC7A4-9A22-4B69-B818-C5E6F7C1F863}" srcOrd="0" destOrd="0" presId="urn:microsoft.com/office/officeart/2008/layout/LinedList"/>
    <dgm:cxn modelId="{1B446C52-8C39-4148-89BD-E23C3A21AD0F}" type="presParOf" srcId="{98D3D230-5D90-43FD-AC96-9EDC849168B9}" destId="{0E920DDB-98AC-432E-93E9-34D56F63A751}" srcOrd="1" destOrd="0" presId="urn:microsoft.com/office/officeart/2008/layout/LinedList"/>
    <dgm:cxn modelId="{B4FCD29F-C583-40F4-8A03-BD58253F6196}" type="presParOf" srcId="{98D3D230-5D90-43FD-AC96-9EDC849168B9}" destId="{FFC73632-1469-4A57-AAED-F7E8D9B24015}" srcOrd="2" destOrd="0" presId="urn:microsoft.com/office/officeart/2008/layout/LinedList"/>
    <dgm:cxn modelId="{B6B7DE78-E562-4C93-AD25-504C212BCD44}" type="presParOf" srcId="{E0EDEC42-AE75-4484-97A6-B98ABCB4FBF4}" destId="{85787DFC-3053-43C1-9B4C-052A30E064DF}" srcOrd="5" destOrd="0" presId="urn:microsoft.com/office/officeart/2008/layout/LinedList"/>
    <dgm:cxn modelId="{81516AA9-E2B1-43E0-B672-5CE0217BFD44}" type="presParOf" srcId="{E0EDEC42-AE75-4484-97A6-B98ABCB4FBF4}" destId="{D71F313D-8A9C-4BD8-9FEE-7965E6AA74D4}" srcOrd="6" destOrd="0" presId="urn:microsoft.com/office/officeart/2008/layout/LinedList"/>
    <dgm:cxn modelId="{C1F53629-F7F8-4E31-AB98-1A9FFFD72761}" type="presParOf" srcId="{E0EDEC42-AE75-4484-97A6-B98ABCB4FBF4}" destId="{A9C84E8E-04B7-40FF-AD67-64C599299487}" srcOrd="7" destOrd="0" presId="urn:microsoft.com/office/officeart/2008/layout/LinedList"/>
    <dgm:cxn modelId="{5610DD39-4E81-48E8-9D34-D4BA54F485BA}" type="presParOf" srcId="{A9C84E8E-04B7-40FF-AD67-64C599299487}" destId="{44A5B5F9-6899-427C-A4FA-9565C0D4A5D2}" srcOrd="0" destOrd="0" presId="urn:microsoft.com/office/officeart/2008/layout/LinedList"/>
    <dgm:cxn modelId="{5FB00216-9ADF-4B94-AA83-5C433B1350CF}" type="presParOf" srcId="{A9C84E8E-04B7-40FF-AD67-64C599299487}" destId="{C2A4B44F-578E-43EB-918C-BCFA6FFB3082}" srcOrd="1" destOrd="0" presId="urn:microsoft.com/office/officeart/2008/layout/LinedList"/>
    <dgm:cxn modelId="{EC9EF55E-629B-4D68-B3D6-7F7A035AC19B}" type="presParOf" srcId="{A9C84E8E-04B7-40FF-AD67-64C599299487}" destId="{BAA474DF-0A17-46A9-97A7-AD69458CCADC}" srcOrd="2" destOrd="0" presId="urn:microsoft.com/office/officeart/2008/layout/LinedList"/>
    <dgm:cxn modelId="{2AD5CDD3-8961-4415-AD5A-D9001C5A4229}" type="presParOf" srcId="{E0EDEC42-AE75-4484-97A6-B98ABCB4FBF4}" destId="{AE21131A-F668-4D26-B2F3-B79497784A21}" srcOrd="8" destOrd="0" presId="urn:microsoft.com/office/officeart/2008/layout/LinedList"/>
    <dgm:cxn modelId="{489067FB-78C7-4047-9A30-BCD201060240}" type="presParOf" srcId="{E0EDEC42-AE75-4484-97A6-B98ABCB4FBF4}" destId="{4686BEBB-C29B-40A2-865C-B400B721945D}" srcOrd="9" destOrd="0" presId="urn:microsoft.com/office/officeart/2008/layout/LinedList"/>
    <dgm:cxn modelId="{47130B08-342D-4D75-9D39-458DED29878D}" type="presParOf" srcId="{73108997-52DC-4671-93ED-CA32BA18E189}" destId="{E826FE22-A82B-424F-8EE4-C0D0A7FF93E4}" srcOrd="2" destOrd="0" presId="urn:microsoft.com/office/officeart/2008/layout/LinedList"/>
    <dgm:cxn modelId="{277D7273-05B7-4B7D-ABE9-0357E42F5E70}" type="presParOf" srcId="{73108997-52DC-4671-93ED-CA32BA18E189}" destId="{23B19C91-4FCF-47C2-945B-38242FD73F4F}" srcOrd="3" destOrd="0" presId="urn:microsoft.com/office/officeart/2008/layout/LinedList"/>
    <dgm:cxn modelId="{49010445-BBE3-42EC-A97B-B28088016F04}" type="presParOf" srcId="{23B19C91-4FCF-47C2-945B-38242FD73F4F}" destId="{7970AFAF-AFD6-4EED-8D66-B69F661097CA}" srcOrd="0" destOrd="0" presId="urn:microsoft.com/office/officeart/2008/layout/LinedList"/>
    <dgm:cxn modelId="{D16A9140-373A-47C6-A6D0-7364365F6EE7}" type="presParOf" srcId="{23B19C91-4FCF-47C2-945B-38242FD73F4F}" destId="{60905ECB-50F2-43F8-AD87-B8C2EE24B939}" srcOrd="1" destOrd="0" presId="urn:microsoft.com/office/officeart/2008/layout/LinedList"/>
    <dgm:cxn modelId="{00EDD9A1-925A-4DD7-93ED-66E0EF40E53B}" type="presParOf" srcId="{60905ECB-50F2-43F8-AD87-B8C2EE24B939}" destId="{F3AA7462-A745-4D07-9523-856726F2EDBE}" srcOrd="0" destOrd="0" presId="urn:microsoft.com/office/officeart/2008/layout/LinedList"/>
    <dgm:cxn modelId="{D005E203-AC57-4AD9-A190-97BA015159B7}" type="presParOf" srcId="{60905ECB-50F2-43F8-AD87-B8C2EE24B939}" destId="{7EA5CBA0-D3D3-4B98-975C-73204D2402E0}" srcOrd="1" destOrd="0" presId="urn:microsoft.com/office/officeart/2008/layout/LinedList"/>
    <dgm:cxn modelId="{633FEC8D-D320-4729-AB38-A717CC0219B8}" type="presParOf" srcId="{7EA5CBA0-D3D3-4B98-975C-73204D2402E0}" destId="{C60996D5-6EC9-4724-95FF-30852BFADC9A}" srcOrd="0" destOrd="0" presId="urn:microsoft.com/office/officeart/2008/layout/LinedList"/>
    <dgm:cxn modelId="{C070CC11-3137-4E6B-9F22-637298C49790}" type="presParOf" srcId="{7EA5CBA0-D3D3-4B98-975C-73204D2402E0}" destId="{D43787AB-6DA7-4209-AE56-A12538BE58CB}" srcOrd="1" destOrd="0" presId="urn:microsoft.com/office/officeart/2008/layout/LinedList"/>
    <dgm:cxn modelId="{C24F8E81-1390-4C30-A032-71CE4FF77213}" type="presParOf" srcId="{7EA5CBA0-D3D3-4B98-975C-73204D2402E0}" destId="{7A0F5559-5738-4BC7-9A01-9187D92D667C}" srcOrd="2" destOrd="0" presId="urn:microsoft.com/office/officeart/2008/layout/LinedList"/>
    <dgm:cxn modelId="{C05ED010-081A-4D88-9F2A-27879E919749}" type="presParOf" srcId="{60905ECB-50F2-43F8-AD87-B8C2EE24B939}" destId="{3766D13B-010D-4D5F-A203-A02378B58AFE}" srcOrd="2" destOrd="0" presId="urn:microsoft.com/office/officeart/2008/layout/LinedList"/>
    <dgm:cxn modelId="{DF780F61-ECB1-43E7-955A-21EF943D4F49}" type="presParOf" srcId="{60905ECB-50F2-43F8-AD87-B8C2EE24B939}" destId="{0BC01980-883C-42C2-BD9F-6311C06AF387}" srcOrd="3" destOrd="0" presId="urn:microsoft.com/office/officeart/2008/layout/LinedList"/>
    <dgm:cxn modelId="{236E860C-23EC-47D6-AF6C-F8D511C62228}" type="presParOf" srcId="{73108997-52DC-4671-93ED-CA32BA18E189}" destId="{6E831A8E-9D7E-478D-B78B-7E42E2661DC6}" srcOrd="4" destOrd="0" presId="urn:microsoft.com/office/officeart/2008/layout/LinedList"/>
    <dgm:cxn modelId="{3F6EDFA7-3B10-475D-B007-BFE335FDD1B9}" type="presParOf" srcId="{73108997-52DC-4671-93ED-CA32BA18E189}" destId="{707E98D1-D55E-4042-A255-8DDE14E905D3}" srcOrd="5" destOrd="0" presId="urn:microsoft.com/office/officeart/2008/layout/LinedList"/>
    <dgm:cxn modelId="{A356E90F-33C9-4340-B861-988BE0A41A60}" type="presParOf" srcId="{707E98D1-D55E-4042-A255-8DDE14E905D3}" destId="{5B3C0D19-3C21-4F3F-B7F1-948145F8BF4F}" srcOrd="0" destOrd="0" presId="urn:microsoft.com/office/officeart/2008/layout/LinedList"/>
    <dgm:cxn modelId="{71055AB6-C697-442C-B28F-EDA7C84607C4}" type="presParOf" srcId="{707E98D1-D55E-4042-A255-8DDE14E905D3}" destId="{0443A6E6-29FC-4022-BA3E-865C39EC31D6}" srcOrd="1" destOrd="0" presId="urn:microsoft.com/office/officeart/2008/layout/LinedList"/>
    <dgm:cxn modelId="{0A9E5404-19D9-4F27-A5C7-6BCE310ACE11}" type="presParOf" srcId="{0443A6E6-29FC-4022-BA3E-865C39EC31D6}" destId="{207F2128-CFCE-4F25-B702-5A56C25EBE20}" srcOrd="0" destOrd="0" presId="urn:microsoft.com/office/officeart/2008/layout/LinedList"/>
    <dgm:cxn modelId="{B5A0C990-3B0A-4299-9076-FB0BCF23065C}" type="presParOf" srcId="{0443A6E6-29FC-4022-BA3E-865C39EC31D6}" destId="{7578C1ED-59FC-48AD-9C40-D2B28DCE2B9E}" srcOrd="1" destOrd="0" presId="urn:microsoft.com/office/officeart/2008/layout/LinedList"/>
    <dgm:cxn modelId="{21B78207-71A0-43EC-95C9-8D59875B9B54}" type="presParOf" srcId="{7578C1ED-59FC-48AD-9C40-D2B28DCE2B9E}" destId="{28FEB830-2577-4E51-AB63-21814B00E266}" srcOrd="0" destOrd="0" presId="urn:microsoft.com/office/officeart/2008/layout/LinedList"/>
    <dgm:cxn modelId="{E05C6AB9-9C04-434F-8E53-E606CA65B0C7}" type="presParOf" srcId="{7578C1ED-59FC-48AD-9C40-D2B28DCE2B9E}" destId="{6DCA064E-C242-4551-A2B4-8E74D5AE5416}" srcOrd="1" destOrd="0" presId="urn:microsoft.com/office/officeart/2008/layout/LinedList"/>
    <dgm:cxn modelId="{566227BD-121C-4BC4-A9A4-4A85ACDFECED}" type="presParOf" srcId="{7578C1ED-59FC-48AD-9C40-D2B28DCE2B9E}" destId="{C8615939-00C5-4A96-ACAA-7B330650D711}" srcOrd="2" destOrd="0" presId="urn:microsoft.com/office/officeart/2008/layout/LinedList"/>
    <dgm:cxn modelId="{3E809AC9-9C0B-41DF-8100-0AAC954A5798}" type="presParOf" srcId="{0443A6E6-29FC-4022-BA3E-865C39EC31D6}" destId="{659D6E17-38A9-4DA3-BE0D-761938B4BF32}" srcOrd="2" destOrd="0" presId="urn:microsoft.com/office/officeart/2008/layout/LinedList"/>
    <dgm:cxn modelId="{F57FD8F2-4243-41BB-9AF5-CB5B77A60AC8}" type="presParOf" srcId="{0443A6E6-29FC-4022-BA3E-865C39EC31D6}" destId="{F104C5E9-C7C2-4A5F-B05D-1FDF6D1930F2}" srcOrd="3" destOrd="0" presId="urn:microsoft.com/office/officeart/2008/layout/LinedList"/>
    <dgm:cxn modelId="{27C6760E-817C-4B16-BAC0-ED1E9208A72A}" type="presParOf" srcId="{73108997-52DC-4671-93ED-CA32BA18E189}" destId="{1598F6CF-08C2-4001-AABD-9FAF0019D9FA}" srcOrd="6" destOrd="0" presId="urn:microsoft.com/office/officeart/2008/layout/LinedList"/>
    <dgm:cxn modelId="{841F1769-3231-49A4-94EF-CB81B204CAFB}" type="presParOf" srcId="{73108997-52DC-4671-93ED-CA32BA18E189}" destId="{AA81977A-54FF-4717-BC10-C09C4D1F78BD}" srcOrd="7" destOrd="0" presId="urn:microsoft.com/office/officeart/2008/layout/LinedList"/>
    <dgm:cxn modelId="{D0C694C5-D913-45BF-90F2-5E8133BD6793}" type="presParOf" srcId="{AA81977A-54FF-4717-BC10-C09C4D1F78BD}" destId="{1EECC33F-4A7A-4E35-AB49-AA2ADF5E4ED1}" srcOrd="0" destOrd="0" presId="urn:microsoft.com/office/officeart/2008/layout/LinedList"/>
    <dgm:cxn modelId="{AD0EF42A-A231-4349-AE2B-99525FF8F27C}" type="presParOf" srcId="{AA81977A-54FF-4717-BC10-C09C4D1F78BD}" destId="{BFE3B27E-8161-48C4-831A-8E16EC17CF32}" srcOrd="1" destOrd="0" presId="urn:microsoft.com/office/officeart/2008/layout/LinedList"/>
    <dgm:cxn modelId="{8356B373-DD54-418F-8CBF-276E3110AF6C}" type="presParOf" srcId="{BFE3B27E-8161-48C4-831A-8E16EC17CF32}" destId="{97163976-A848-46F5-811F-D0702D6BD22F}" srcOrd="0" destOrd="0" presId="urn:microsoft.com/office/officeart/2008/layout/LinedList"/>
    <dgm:cxn modelId="{C9771845-4E84-4E8A-A6C3-A89D5D78BB80}" type="presParOf" srcId="{BFE3B27E-8161-48C4-831A-8E16EC17CF32}" destId="{B3210300-42AD-43CE-8282-57051541C789}" srcOrd="1" destOrd="0" presId="urn:microsoft.com/office/officeart/2008/layout/LinedList"/>
    <dgm:cxn modelId="{E5F2AEB9-9CAF-455D-9E83-A7BA0E810EDE}" type="presParOf" srcId="{B3210300-42AD-43CE-8282-57051541C789}" destId="{665B36CA-51D4-4A39-B66D-9411E9FB12C8}" srcOrd="0" destOrd="0" presId="urn:microsoft.com/office/officeart/2008/layout/LinedList"/>
    <dgm:cxn modelId="{EB65C4D2-0C8D-4125-897B-CBDF18D46302}" type="presParOf" srcId="{B3210300-42AD-43CE-8282-57051541C789}" destId="{80760CA2-6918-4AA7-844B-E853682BC7B7}" srcOrd="1" destOrd="0" presId="urn:microsoft.com/office/officeart/2008/layout/LinedList"/>
    <dgm:cxn modelId="{5D4AD10E-145C-4249-9FAD-034B8825CDB3}" type="presParOf" srcId="{B3210300-42AD-43CE-8282-57051541C789}" destId="{61922486-5268-47B2-8209-08BC8762D255}" srcOrd="2" destOrd="0" presId="urn:microsoft.com/office/officeart/2008/layout/LinedList"/>
    <dgm:cxn modelId="{81487E8A-FF42-4AD7-8189-5188EDA6122A}" type="presParOf" srcId="{BFE3B27E-8161-48C4-831A-8E16EC17CF32}" destId="{B4F5529E-075C-4A9F-8A23-9810057B48A0}" srcOrd="2" destOrd="0" presId="urn:microsoft.com/office/officeart/2008/layout/LinedList"/>
    <dgm:cxn modelId="{CBD2AF5D-4A04-42E3-946A-BECCC6DB10D3}" type="presParOf" srcId="{BFE3B27E-8161-48C4-831A-8E16EC17CF32}" destId="{EDA76F86-D842-433D-AEEA-C69E700422D2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6B54E7-3F38-40E4-AEE4-39BC93F0D0D9}">
      <dsp:nvSpPr>
        <dsp:cNvPr id="0" name=""/>
        <dsp:cNvSpPr/>
      </dsp:nvSpPr>
      <dsp:spPr>
        <a:xfrm>
          <a:off x="0" y="0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88348F0-7590-43FE-AE7C-FF2F7289FD80}">
      <dsp:nvSpPr>
        <dsp:cNvPr id="0" name=""/>
        <dsp:cNvSpPr/>
      </dsp:nvSpPr>
      <dsp:spPr>
        <a:xfrm>
          <a:off x="0" y="0"/>
          <a:ext cx="6709905" cy="524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Executive summary</a:t>
          </a:r>
          <a:endParaRPr lang="en-US" sz="2300" kern="1200"/>
        </a:p>
      </dsp:txBody>
      <dsp:txXfrm>
        <a:off x="0" y="0"/>
        <a:ext cx="6709905" cy="524435"/>
      </dsp:txXfrm>
    </dsp:sp>
    <dsp:sp modelId="{82F52694-5283-4D2A-A9A2-7C61A1BB57BF}">
      <dsp:nvSpPr>
        <dsp:cNvPr id="0" name=""/>
        <dsp:cNvSpPr/>
      </dsp:nvSpPr>
      <dsp:spPr>
        <a:xfrm>
          <a:off x="0" y="524435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0749529-1D4F-4D26-865F-263EFCF1F423}">
      <dsp:nvSpPr>
        <dsp:cNvPr id="0" name=""/>
        <dsp:cNvSpPr/>
      </dsp:nvSpPr>
      <dsp:spPr>
        <a:xfrm>
          <a:off x="0" y="524435"/>
          <a:ext cx="6709905" cy="524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Data snapshot</a:t>
          </a:r>
          <a:endParaRPr lang="en-US" sz="2300" kern="1200"/>
        </a:p>
      </dsp:txBody>
      <dsp:txXfrm>
        <a:off x="0" y="524435"/>
        <a:ext cx="6709905" cy="524435"/>
      </dsp:txXfrm>
    </dsp:sp>
    <dsp:sp modelId="{4876365F-2250-40C9-B237-80430F7429A4}">
      <dsp:nvSpPr>
        <dsp:cNvPr id="0" name=""/>
        <dsp:cNvSpPr/>
      </dsp:nvSpPr>
      <dsp:spPr>
        <a:xfrm>
          <a:off x="0" y="1048870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BA1D851-D823-4F80-A5BA-746E5FA94DD2}">
      <dsp:nvSpPr>
        <dsp:cNvPr id="0" name=""/>
        <dsp:cNvSpPr/>
      </dsp:nvSpPr>
      <dsp:spPr>
        <a:xfrm>
          <a:off x="0" y="1048870"/>
          <a:ext cx="6709905" cy="524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Page 1 Dashboard Overview</a:t>
          </a:r>
          <a:endParaRPr lang="en-US" sz="2300" kern="1200"/>
        </a:p>
      </dsp:txBody>
      <dsp:txXfrm>
        <a:off x="0" y="1048870"/>
        <a:ext cx="6709905" cy="524435"/>
      </dsp:txXfrm>
    </dsp:sp>
    <dsp:sp modelId="{32A7F29F-0847-474F-8997-C04D55742077}">
      <dsp:nvSpPr>
        <dsp:cNvPr id="0" name=""/>
        <dsp:cNvSpPr/>
      </dsp:nvSpPr>
      <dsp:spPr>
        <a:xfrm>
          <a:off x="0" y="1573305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54F7D0-7336-480D-BA0D-28B936009B52}">
      <dsp:nvSpPr>
        <dsp:cNvPr id="0" name=""/>
        <dsp:cNvSpPr/>
      </dsp:nvSpPr>
      <dsp:spPr>
        <a:xfrm>
          <a:off x="0" y="1573305"/>
          <a:ext cx="6709905" cy="524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Page 2 Performance Analysis</a:t>
          </a:r>
          <a:endParaRPr lang="en-US" sz="2300" kern="1200"/>
        </a:p>
      </dsp:txBody>
      <dsp:txXfrm>
        <a:off x="0" y="1573305"/>
        <a:ext cx="6709905" cy="524435"/>
      </dsp:txXfrm>
    </dsp:sp>
    <dsp:sp modelId="{74988C52-A128-40A2-B0E9-9D185FC45A83}">
      <dsp:nvSpPr>
        <dsp:cNvPr id="0" name=""/>
        <dsp:cNvSpPr/>
      </dsp:nvSpPr>
      <dsp:spPr>
        <a:xfrm>
          <a:off x="0" y="2097740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7F92D94-3BF3-4D30-ACF3-49FA8954A550}">
      <dsp:nvSpPr>
        <dsp:cNvPr id="0" name=""/>
        <dsp:cNvSpPr/>
      </dsp:nvSpPr>
      <dsp:spPr>
        <a:xfrm>
          <a:off x="0" y="2097740"/>
          <a:ext cx="6709905" cy="524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Key calculated measures and DAX</a:t>
          </a:r>
          <a:endParaRPr lang="en-US" sz="2300" kern="1200"/>
        </a:p>
      </dsp:txBody>
      <dsp:txXfrm>
        <a:off x="0" y="2097740"/>
        <a:ext cx="6709905" cy="524435"/>
      </dsp:txXfrm>
    </dsp:sp>
    <dsp:sp modelId="{1D393B98-D2D1-4C75-9A16-F4ADE9CEBF54}">
      <dsp:nvSpPr>
        <dsp:cNvPr id="0" name=""/>
        <dsp:cNvSpPr/>
      </dsp:nvSpPr>
      <dsp:spPr>
        <a:xfrm>
          <a:off x="0" y="2622175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65E6F3-3329-4614-AD37-55F6729B0FB5}">
      <dsp:nvSpPr>
        <dsp:cNvPr id="0" name=""/>
        <dsp:cNvSpPr/>
      </dsp:nvSpPr>
      <dsp:spPr>
        <a:xfrm>
          <a:off x="0" y="2622175"/>
          <a:ext cx="6709905" cy="524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Top findings from the two pages</a:t>
          </a:r>
          <a:endParaRPr lang="en-US" sz="2300" kern="1200"/>
        </a:p>
      </dsp:txBody>
      <dsp:txXfrm>
        <a:off x="0" y="2622175"/>
        <a:ext cx="6709905" cy="524435"/>
      </dsp:txXfrm>
    </dsp:sp>
    <dsp:sp modelId="{CAD9A1C6-F587-4C72-8305-DD5F09876221}">
      <dsp:nvSpPr>
        <dsp:cNvPr id="0" name=""/>
        <dsp:cNvSpPr/>
      </dsp:nvSpPr>
      <dsp:spPr>
        <a:xfrm>
          <a:off x="0" y="3146610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281DE0E-78E8-4876-A6F5-ABDB4EEBB314}">
      <dsp:nvSpPr>
        <dsp:cNvPr id="0" name=""/>
        <dsp:cNvSpPr/>
      </dsp:nvSpPr>
      <dsp:spPr>
        <a:xfrm>
          <a:off x="0" y="3146610"/>
          <a:ext cx="6709905" cy="524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Recommendations and next steps</a:t>
          </a:r>
          <a:endParaRPr lang="en-US" sz="2300" kern="1200"/>
        </a:p>
      </dsp:txBody>
      <dsp:txXfrm>
        <a:off x="0" y="3146610"/>
        <a:ext cx="6709905" cy="524435"/>
      </dsp:txXfrm>
    </dsp:sp>
    <dsp:sp modelId="{8FE808D5-1512-4852-B131-8FDF39A97205}">
      <dsp:nvSpPr>
        <dsp:cNvPr id="0" name=""/>
        <dsp:cNvSpPr/>
      </dsp:nvSpPr>
      <dsp:spPr>
        <a:xfrm>
          <a:off x="0" y="3671045"/>
          <a:ext cx="670990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770530E-3BDA-4BEC-ADB2-3E58A2D31D90}">
      <dsp:nvSpPr>
        <dsp:cNvPr id="0" name=""/>
        <dsp:cNvSpPr/>
      </dsp:nvSpPr>
      <dsp:spPr>
        <a:xfrm>
          <a:off x="0" y="3671045"/>
          <a:ext cx="6709905" cy="524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Appendix: data dictionary and DAX snippets</a:t>
          </a:r>
          <a:endParaRPr lang="en-US" sz="2300" kern="1200"/>
        </a:p>
      </dsp:txBody>
      <dsp:txXfrm>
        <a:off x="0" y="3671045"/>
        <a:ext cx="6709905" cy="5244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4DC27A-5DD8-455C-B67D-FBFF406FC29F}">
      <dsp:nvSpPr>
        <dsp:cNvPr id="0" name=""/>
        <dsp:cNvSpPr/>
      </dsp:nvSpPr>
      <dsp:spPr>
        <a:xfrm>
          <a:off x="0" y="495"/>
          <a:ext cx="705326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4B2053-0442-49F0-8F54-E3C8D486A505}">
      <dsp:nvSpPr>
        <dsp:cNvPr id="0" name=""/>
        <dsp:cNvSpPr/>
      </dsp:nvSpPr>
      <dsp:spPr>
        <a:xfrm>
          <a:off x="0" y="495"/>
          <a:ext cx="7053264" cy="811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b="1" kern="1200"/>
            <a:t>Columns available</a:t>
          </a:r>
          <a:endParaRPr lang="en-US" sz="1300" kern="1200"/>
        </a:p>
      </dsp:txBody>
      <dsp:txXfrm>
        <a:off x="0" y="495"/>
        <a:ext cx="7053264" cy="811088"/>
      </dsp:txXfrm>
    </dsp:sp>
    <dsp:sp modelId="{C107A051-3473-44E5-938E-BD275A6ABA6C}">
      <dsp:nvSpPr>
        <dsp:cNvPr id="0" name=""/>
        <dsp:cNvSpPr/>
      </dsp:nvSpPr>
      <dsp:spPr>
        <a:xfrm>
          <a:off x="0" y="811583"/>
          <a:ext cx="7053264" cy="0"/>
        </a:xfrm>
        <a:prstGeom prst="line">
          <a:avLst/>
        </a:prstGeom>
        <a:solidFill>
          <a:schemeClr val="accent2">
            <a:hueOff val="338703"/>
            <a:satOff val="-1658"/>
            <a:lumOff val="931"/>
            <a:alphaOff val="0"/>
          </a:schemeClr>
        </a:solidFill>
        <a:ln w="19050" cap="rnd" cmpd="sng" algn="ctr">
          <a:solidFill>
            <a:schemeClr val="accent2">
              <a:hueOff val="338703"/>
              <a:satOff val="-1658"/>
              <a:lumOff val="9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C6794-2045-48BC-83C0-00AF951F415B}">
      <dsp:nvSpPr>
        <dsp:cNvPr id="0" name=""/>
        <dsp:cNvSpPr/>
      </dsp:nvSpPr>
      <dsp:spPr>
        <a:xfrm>
          <a:off x="0" y="811583"/>
          <a:ext cx="7053264" cy="811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Data quality notes</a:t>
          </a:r>
          <a:endParaRPr lang="en-US" sz="1300" kern="1200"/>
        </a:p>
      </dsp:txBody>
      <dsp:txXfrm>
        <a:off x="0" y="811583"/>
        <a:ext cx="7053264" cy="811088"/>
      </dsp:txXfrm>
    </dsp:sp>
    <dsp:sp modelId="{31E287B9-1167-4673-B1FD-25D370ECDE05}">
      <dsp:nvSpPr>
        <dsp:cNvPr id="0" name=""/>
        <dsp:cNvSpPr/>
      </dsp:nvSpPr>
      <dsp:spPr>
        <a:xfrm>
          <a:off x="0" y="1622672"/>
          <a:ext cx="7053264" cy="0"/>
        </a:xfrm>
        <a:prstGeom prst="line">
          <a:avLst/>
        </a:prstGeom>
        <a:solidFill>
          <a:schemeClr val="accent2">
            <a:hueOff val="677407"/>
            <a:satOff val="-3316"/>
            <a:lumOff val="1862"/>
            <a:alphaOff val="0"/>
          </a:schemeClr>
        </a:solidFill>
        <a:ln w="19050" cap="rnd" cmpd="sng" algn="ctr">
          <a:solidFill>
            <a:schemeClr val="accent2">
              <a:hueOff val="677407"/>
              <a:satOff val="-3316"/>
              <a:lumOff val="18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8380F-E5D7-4D34-BF1A-AFDDF48FE7B7}">
      <dsp:nvSpPr>
        <dsp:cNvPr id="0" name=""/>
        <dsp:cNvSpPr/>
      </dsp:nvSpPr>
      <dsp:spPr>
        <a:xfrm>
          <a:off x="0" y="1622672"/>
          <a:ext cx="7053264" cy="811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Numeric conversions: ensured CAGR and Expense Ratio are numeric and percent formatted.</a:t>
          </a:r>
        </a:p>
      </dsp:txBody>
      <dsp:txXfrm>
        <a:off x="0" y="1622672"/>
        <a:ext cx="7053264" cy="811088"/>
      </dsp:txXfrm>
    </dsp:sp>
    <dsp:sp modelId="{4B442C08-DE5A-4777-8ADF-652B2936F0E1}">
      <dsp:nvSpPr>
        <dsp:cNvPr id="0" name=""/>
        <dsp:cNvSpPr/>
      </dsp:nvSpPr>
      <dsp:spPr>
        <a:xfrm>
          <a:off x="0" y="2433761"/>
          <a:ext cx="7053264" cy="0"/>
        </a:xfrm>
        <a:prstGeom prst="line">
          <a:avLst/>
        </a:prstGeom>
        <a:solidFill>
          <a:schemeClr val="accent2">
            <a:hueOff val="1016110"/>
            <a:satOff val="-4974"/>
            <a:lumOff val="2794"/>
            <a:alphaOff val="0"/>
          </a:schemeClr>
        </a:solidFill>
        <a:ln w="19050" cap="rnd" cmpd="sng" algn="ctr">
          <a:solidFill>
            <a:schemeClr val="accent2">
              <a:hueOff val="1016110"/>
              <a:satOff val="-4974"/>
              <a:lumOff val="27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880C5-08DD-4598-8D91-695F917E9020}">
      <dsp:nvSpPr>
        <dsp:cNvPr id="0" name=""/>
        <dsp:cNvSpPr/>
      </dsp:nvSpPr>
      <dsp:spPr>
        <a:xfrm>
          <a:off x="0" y="2433761"/>
          <a:ext cx="7053264" cy="811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Row count: </a:t>
          </a:r>
          <a:r>
            <a:rPr lang="en-US" sz="1300" i="1" kern="1200"/>
            <a:t>2556</a:t>
          </a:r>
          <a:endParaRPr lang="en-US" sz="1300" kern="1200"/>
        </a:p>
      </dsp:txBody>
      <dsp:txXfrm>
        <a:off x="0" y="2433761"/>
        <a:ext cx="7053264" cy="811088"/>
      </dsp:txXfrm>
    </dsp:sp>
    <dsp:sp modelId="{FE422648-C2CA-4411-8C17-5A32622F4469}">
      <dsp:nvSpPr>
        <dsp:cNvPr id="0" name=""/>
        <dsp:cNvSpPr/>
      </dsp:nvSpPr>
      <dsp:spPr>
        <a:xfrm>
          <a:off x="0" y="3244850"/>
          <a:ext cx="7053264" cy="0"/>
        </a:xfrm>
        <a:prstGeom prst="line">
          <a:avLst/>
        </a:prstGeom>
        <a:solidFill>
          <a:schemeClr val="accent2">
            <a:hueOff val="1354814"/>
            <a:satOff val="-6632"/>
            <a:lumOff val="3725"/>
            <a:alphaOff val="0"/>
          </a:schemeClr>
        </a:solidFill>
        <a:ln w="19050" cap="rnd" cmpd="sng" algn="ctr">
          <a:solidFill>
            <a:schemeClr val="accent2">
              <a:hueOff val="1354814"/>
              <a:satOff val="-6632"/>
              <a:lumOff val="372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A7862-9874-4264-8BC3-674878939214}">
      <dsp:nvSpPr>
        <dsp:cNvPr id="0" name=""/>
        <dsp:cNvSpPr/>
      </dsp:nvSpPr>
      <dsp:spPr>
        <a:xfrm>
          <a:off x="0" y="3244850"/>
          <a:ext cx="7053264" cy="811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Scheme; Category;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Type; Benchmark; Rating; Net Asset Value (NAV); CAGR 6M; CAGR 1Y; CAGR 3Y;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Min Investment; Expense Ratio; SIP Min Investment.</a:t>
          </a:r>
          <a:endParaRPr lang="en-US" sz="1300" kern="1200"/>
        </a:p>
      </dsp:txBody>
      <dsp:txXfrm>
        <a:off x="0" y="3244850"/>
        <a:ext cx="7053264" cy="8110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8ABBC0-02F3-43C4-B563-86C20B09A95C}">
      <dsp:nvSpPr>
        <dsp:cNvPr id="0" name=""/>
        <dsp:cNvSpPr/>
      </dsp:nvSpPr>
      <dsp:spPr>
        <a:xfrm>
          <a:off x="537" y="131317"/>
          <a:ext cx="631968" cy="6319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EE7E49-047B-498F-A309-C2482645DBBF}">
      <dsp:nvSpPr>
        <dsp:cNvPr id="0" name=""/>
        <dsp:cNvSpPr/>
      </dsp:nvSpPr>
      <dsp:spPr>
        <a:xfrm>
          <a:off x="537" y="898376"/>
          <a:ext cx="1805624" cy="62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kern="1200"/>
            <a:t>Performance Score</a:t>
          </a:r>
          <a:endParaRPr lang="en-US" sz="2000" kern="1200"/>
        </a:p>
      </dsp:txBody>
      <dsp:txXfrm>
        <a:off x="537" y="898376"/>
        <a:ext cx="1805624" cy="626326"/>
      </dsp:txXfrm>
    </dsp:sp>
    <dsp:sp modelId="{CF44AC87-A3B4-4FB5-BDCA-C96D6CCFC435}">
      <dsp:nvSpPr>
        <dsp:cNvPr id="0" name=""/>
        <dsp:cNvSpPr/>
      </dsp:nvSpPr>
      <dsp:spPr>
        <a:xfrm>
          <a:off x="537" y="1587535"/>
          <a:ext cx="1805624" cy="1685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Performance Score = (0.5 × [CAGR 3Y]) + (0.3 × [CAGR 1Y]) + (0.2 × [CAGR 6M])</a:t>
          </a:r>
          <a:endParaRPr lang="en-US" sz="1800" kern="1200"/>
        </a:p>
      </dsp:txBody>
      <dsp:txXfrm>
        <a:off x="537" y="1587535"/>
        <a:ext cx="1805624" cy="1685423"/>
      </dsp:txXfrm>
    </dsp:sp>
    <dsp:sp modelId="{BBA11E59-E853-4179-8D42-66C3ED9C7251}">
      <dsp:nvSpPr>
        <dsp:cNvPr id="0" name=""/>
        <dsp:cNvSpPr/>
      </dsp:nvSpPr>
      <dsp:spPr>
        <a:xfrm>
          <a:off x="2122146" y="131317"/>
          <a:ext cx="631968" cy="6319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841EE-C9B5-42D0-9935-B95CB9CC15EC}">
      <dsp:nvSpPr>
        <dsp:cNvPr id="0" name=""/>
        <dsp:cNvSpPr/>
      </dsp:nvSpPr>
      <dsp:spPr>
        <a:xfrm>
          <a:off x="2122146" y="898376"/>
          <a:ext cx="1805624" cy="62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kern="1200"/>
            <a:t>Stability Score</a:t>
          </a:r>
          <a:endParaRPr lang="en-US" sz="2000" kern="1200"/>
        </a:p>
      </dsp:txBody>
      <dsp:txXfrm>
        <a:off x="2122146" y="898376"/>
        <a:ext cx="1805624" cy="626326"/>
      </dsp:txXfrm>
    </dsp:sp>
    <dsp:sp modelId="{652278F9-DCFF-4EC8-9A4B-9DB54088415B}">
      <dsp:nvSpPr>
        <dsp:cNvPr id="0" name=""/>
        <dsp:cNvSpPr/>
      </dsp:nvSpPr>
      <dsp:spPr>
        <a:xfrm>
          <a:off x="2122146" y="1587535"/>
          <a:ext cx="1805624" cy="1685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Stability = ABS([CAGR 6M] − [CAGR 3Y]) (lower = more stable)</a:t>
          </a:r>
          <a:endParaRPr lang="en-US" sz="1800" kern="1200"/>
        </a:p>
      </dsp:txBody>
      <dsp:txXfrm>
        <a:off x="2122146" y="1587535"/>
        <a:ext cx="1805624" cy="1685423"/>
      </dsp:txXfrm>
    </dsp:sp>
    <dsp:sp modelId="{10D3DFC1-CD5F-41FE-A8EA-1BC3982AD885}">
      <dsp:nvSpPr>
        <dsp:cNvPr id="0" name=""/>
        <dsp:cNvSpPr/>
      </dsp:nvSpPr>
      <dsp:spPr>
        <a:xfrm>
          <a:off x="4243756" y="131317"/>
          <a:ext cx="631968" cy="6319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1F38F-0DB2-400B-B5EA-47709AB26E1E}">
      <dsp:nvSpPr>
        <dsp:cNvPr id="0" name=""/>
        <dsp:cNvSpPr/>
      </dsp:nvSpPr>
      <dsp:spPr>
        <a:xfrm>
          <a:off x="4243756" y="898376"/>
          <a:ext cx="1805624" cy="62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kern="1200"/>
            <a:t>Return Efficiency</a:t>
          </a:r>
          <a:endParaRPr lang="en-US" sz="2000" kern="1200"/>
        </a:p>
      </dsp:txBody>
      <dsp:txXfrm>
        <a:off x="4243756" y="898376"/>
        <a:ext cx="1805624" cy="626326"/>
      </dsp:txXfrm>
    </dsp:sp>
    <dsp:sp modelId="{18053AE9-2AE8-4A88-A3F0-E9EE9EC6EF50}">
      <dsp:nvSpPr>
        <dsp:cNvPr id="0" name=""/>
        <dsp:cNvSpPr/>
      </dsp:nvSpPr>
      <dsp:spPr>
        <a:xfrm>
          <a:off x="4243756" y="1587535"/>
          <a:ext cx="1805624" cy="1685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Return Efficiency = [CAGR 3Y] / [Expense Ratio]</a:t>
          </a:r>
          <a:endParaRPr lang="en-US" sz="1800" kern="1200"/>
        </a:p>
      </dsp:txBody>
      <dsp:txXfrm>
        <a:off x="4243756" y="1587535"/>
        <a:ext cx="1805624" cy="1685423"/>
      </dsp:txXfrm>
    </dsp:sp>
    <dsp:sp modelId="{182B5627-49BB-4436-9093-5908B7CEB584}">
      <dsp:nvSpPr>
        <dsp:cNvPr id="0" name=""/>
        <dsp:cNvSpPr/>
      </dsp:nvSpPr>
      <dsp:spPr>
        <a:xfrm>
          <a:off x="6365365" y="131317"/>
          <a:ext cx="631968" cy="6319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6571B-880B-4D97-B393-3C31AA6CDD2C}">
      <dsp:nvSpPr>
        <dsp:cNvPr id="0" name=""/>
        <dsp:cNvSpPr/>
      </dsp:nvSpPr>
      <dsp:spPr>
        <a:xfrm>
          <a:off x="6365365" y="898376"/>
          <a:ext cx="1805624" cy="6263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2000" kern="1200"/>
            <a:t>Affordability Score</a:t>
          </a:r>
          <a:endParaRPr lang="en-US" sz="2000" kern="1200"/>
        </a:p>
      </dsp:txBody>
      <dsp:txXfrm>
        <a:off x="6365365" y="898376"/>
        <a:ext cx="1805624" cy="626326"/>
      </dsp:txXfrm>
    </dsp:sp>
    <dsp:sp modelId="{5BF9AF17-ED1A-4A1F-B482-6657BA015A90}">
      <dsp:nvSpPr>
        <dsp:cNvPr id="0" name=""/>
        <dsp:cNvSpPr/>
      </dsp:nvSpPr>
      <dsp:spPr>
        <a:xfrm>
          <a:off x="6365365" y="1587535"/>
          <a:ext cx="1805624" cy="16854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Affordability = [CAGR 3Y] / [Min Investment]</a:t>
          </a:r>
          <a:endParaRPr lang="en-US" sz="1800" kern="1200"/>
        </a:p>
      </dsp:txBody>
      <dsp:txXfrm>
        <a:off x="6365365" y="1587535"/>
        <a:ext cx="1805624" cy="16854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A63E0-5711-4AE6-A3EE-0C9E03924889}">
      <dsp:nvSpPr>
        <dsp:cNvPr id="0" name=""/>
        <dsp:cNvSpPr/>
      </dsp:nvSpPr>
      <dsp:spPr>
        <a:xfrm>
          <a:off x="0" y="0"/>
          <a:ext cx="705326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996C8D-6515-40BC-B571-CC9974C404EE}">
      <dsp:nvSpPr>
        <dsp:cNvPr id="0" name=""/>
        <dsp:cNvSpPr/>
      </dsp:nvSpPr>
      <dsp:spPr>
        <a:xfrm>
          <a:off x="0" y="0"/>
          <a:ext cx="1410652" cy="1014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Top 3 funds by Performance Score</a:t>
          </a:r>
        </a:p>
      </dsp:txBody>
      <dsp:txXfrm>
        <a:off x="0" y="0"/>
        <a:ext cx="1410652" cy="1014108"/>
      </dsp:txXfrm>
    </dsp:sp>
    <dsp:sp modelId="{8BAB997D-223B-4DC2-AA25-99F88F65328E}">
      <dsp:nvSpPr>
        <dsp:cNvPr id="0" name=""/>
        <dsp:cNvSpPr/>
      </dsp:nvSpPr>
      <dsp:spPr>
        <a:xfrm>
          <a:off x="1516451" y="15845"/>
          <a:ext cx="5536812" cy="316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Quant Small Cap Fund (IDCW); </a:t>
          </a:r>
        </a:p>
      </dsp:txBody>
      <dsp:txXfrm>
        <a:off x="1516451" y="15845"/>
        <a:ext cx="5536812" cy="316908"/>
      </dsp:txXfrm>
    </dsp:sp>
    <dsp:sp modelId="{41B324E5-3F36-409E-B18C-832DCAA0B397}">
      <dsp:nvSpPr>
        <dsp:cNvPr id="0" name=""/>
        <dsp:cNvSpPr/>
      </dsp:nvSpPr>
      <dsp:spPr>
        <a:xfrm>
          <a:off x="1410652" y="332754"/>
          <a:ext cx="564261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920DDB-98AC-432E-93E9-34D56F63A751}">
      <dsp:nvSpPr>
        <dsp:cNvPr id="0" name=""/>
        <dsp:cNvSpPr/>
      </dsp:nvSpPr>
      <dsp:spPr>
        <a:xfrm>
          <a:off x="1516451" y="348599"/>
          <a:ext cx="5536812" cy="316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Quant Small Cap Fund (G);</a:t>
          </a:r>
        </a:p>
      </dsp:txBody>
      <dsp:txXfrm>
        <a:off x="1516451" y="348599"/>
        <a:ext cx="5536812" cy="316908"/>
      </dsp:txXfrm>
    </dsp:sp>
    <dsp:sp modelId="{85787DFC-3053-43C1-9B4C-052A30E064DF}">
      <dsp:nvSpPr>
        <dsp:cNvPr id="0" name=""/>
        <dsp:cNvSpPr/>
      </dsp:nvSpPr>
      <dsp:spPr>
        <a:xfrm>
          <a:off x="1410652" y="665508"/>
          <a:ext cx="564261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A4B44F-578E-43EB-918C-BCFA6FFB3082}">
      <dsp:nvSpPr>
        <dsp:cNvPr id="0" name=""/>
        <dsp:cNvSpPr/>
      </dsp:nvSpPr>
      <dsp:spPr>
        <a:xfrm>
          <a:off x="1516451" y="681354"/>
          <a:ext cx="5536812" cy="3169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Quant Mid Cap Fund (IDCW);</a:t>
          </a:r>
        </a:p>
      </dsp:txBody>
      <dsp:txXfrm>
        <a:off x="1516451" y="681354"/>
        <a:ext cx="5536812" cy="316908"/>
      </dsp:txXfrm>
    </dsp:sp>
    <dsp:sp modelId="{AE21131A-F668-4D26-B2F3-B79497784A21}">
      <dsp:nvSpPr>
        <dsp:cNvPr id="0" name=""/>
        <dsp:cNvSpPr/>
      </dsp:nvSpPr>
      <dsp:spPr>
        <a:xfrm>
          <a:off x="1410652" y="998263"/>
          <a:ext cx="564261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26FE22-A82B-424F-8EE4-C0D0A7FF93E4}">
      <dsp:nvSpPr>
        <dsp:cNvPr id="0" name=""/>
        <dsp:cNvSpPr/>
      </dsp:nvSpPr>
      <dsp:spPr>
        <a:xfrm>
          <a:off x="0" y="1014108"/>
          <a:ext cx="7053264" cy="0"/>
        </a:xfrm>
        <a:prstGeom prst="line">
          <a:avLst/>
        </a:prstGeom>
        <a:solidFill>
          <a:schemeClr val="accent5">
            <a:hueOff val="2436877"/>
            <a:satOff val="265"/>
            <a:lumOff val="0"/>
            <a:alphaOff val="0"/>
          </a:schemeClr>
        </a:solidFill>
        <a:ln w="19050" cap="rnd" cmpd="sng" algn="ctr">
          <a:solidFill>
            <a:schemeClr val="accent5">
              <a:hueOff val="2436877"/>
              <a:satOff val="265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0AFAF-AFD6-4EED-8D66-B69F661097CA}">
      <dsp:nvSpPr>
        <dsp:cNvPr id="0" name=""/>
        <dsp:cNvSpPr/>
      </dsp:nvSpPr>
      <dsp:spPr>
        <a:xfrm>
          <a:off x="0" y="1014108"/>
          <a:ext cx="1410652" cy="1014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Most stable funds (lowest Stability Score)</a:t>
          </a:r>
        </a:p>
      </dsp:txBody>
      <dsp:txXfrm>
        <a:off x="0" y="1014108"/>
        <a:ext cx="1410652" cy="1014108"/>
      </dsp:txXfrm>
    </dsp:sp>
    <dsp:sp modelId="{D43787AB-6DA7-4209-AE56-A12538BE58CB}">
      <dsp:nvSpPr>
        <dsp:cNvPr id="0" name=""/>
        <dsp:cNvSpPr/>
      </dsp:nvSpPr>
      <dsp:spPr>
        <a:xfrm>
          <a:off x="1516451" y="1060159"/>
          <a:ext cx="5536812" cy="921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DSP Liquidity Fund-Reg(G) score- 0.01;</a:t>
          </a:r>
        </a:p>
      </dsp:txBody>
      <dsp:txXfrm>
        <a:off x="1516451" y="1060159"/>
        <a:ext cx="5536812" cy="921016"/>
      </dsp:txXfrm>
    </dsp:sp>
    <dsp:sp modelId="{3766D13B-010D-4D5F-A203-A02378B58AFE}">
      <dsp:nvSpPr>
        <dsp:cNvPr id="0" name=""/>
        <dsp:cNvSpPr/>
      </dsp:nvSpPr>
      <dsp:spPr>
        <a:xfrm>
          <a:off x="1410652" y="1981175"/>
          <a:ext cx="564261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831A8E-9D7E-478D-B78B-7E42E2661DC6}">
      <dsp:nvSpPr>
        <dsp:cNvPr id="0" name=""/>
        <dsp:cNvSpPr/>
      </dsp:nvSpPr>
      <dsp:spPr>
        <a:xfrm>
          <a:off x="0" y="2028216"/>
          <a:ext cx="7053264" cy="0"/>
        </a:xfrm>
        <a:prstGeom prst="line">
          <a:avLst/>
        </a:prstGeom>
        <a:solidFill>
          <a:schemeClr val="accent5">
            <a:hueOff val="4873755"/>
            <a:satOff val="530"/>
            <a:lumOff val="-1"/>
            <a:alphaOff val="0"/>
          </a:schemeClr>
        </a:solidFill>
        <a:ln w="19050" cap="rnd" cmpd="sng" algn="ctr">
          <a:solidFill>
            <a:schemeClr val="accent5">
              <a:hueOff val="4873755"/>
              <a:satOff val="530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C0D19-3C21-4F3F-B7F1-948145F8BF4F}">
      <dsp:nvSpPr>
        <dsp:cNvPr id="0" name=""/>
        <dsp:cNvSpPr/>
      </dsp:nvSpPr>
      <dsp:spPr>
        <a:xfrm>
          <a:off x="0" y="2028216"/>
          <a:ext cx="1410652" cy="1014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Bottom 3 Funds By CAGR 3 years</a:t>
          </a:r>
        </a:p>
      </dsp:txBody>
      <dsp:txXfrm>
        <a:off x="0" y="2028216"/>
        <a:ext cx="1410652" cy="1014108"/>
      </dsp:txXfrm>
    </dsp:sp>
    <dsp:sp modelId="{6DCA064E-C242-4551-A2B4-8E74D5AE5416}">
      <dsp:nvSpPr>
        <dsp:cNvPr id="0" name=""/>
        <dsp:cNvSpPr/>
      </dsp:nvSpPr>
      <dsp:spPr>
        <a:xfrm>
          <a:off x="1516451" y="2074267"/>
          <a:ext cx="5536812" cy="921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HSBC Brazil Fund, Nippon India Strategic debt</a:t>
          </a:r>
        </a:p>
      </dsp:txBody>
      <dsp:txXfrm>
        <a:off x="1516451" y="2074267"/>
        <a:ext cx="5536812" cy="921016"/>
      </dsp:txXfrm>
    </dsp:sp>
    <dsp:sp modelId="{659D6E17-38A9-4DA3-BE0D-761938B4BF32}">
      <dsp:nvSpPr>
        <dsp:cNvPr id="0" name=""/>
        <dsp:cNvSpPr/>
      </dsp:nvSpPr>
      <dsp:spPr>
        <a:xfrm>
          <a:off x="1410652" y="2995284"/>
          <a:ext cx="564261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8F6CF-08C2-4001-AABD-9FAF0019D9FA}">
      <dsp:nvSpPr>
        <dsp:cNvPr id="0" name=""/>
        <dsp:cNvSpPr/>
      </dsp:nvSpPr>
      <dsp:spPr>
        <a:xfrm>
          <a:off x="0" y="3042325"/>
          <a:ext cx="7053264" cy="0"/>
        </a:xfrm>
        <a:prstGeom prst="line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accent5">
              <a:hueOff val="7310632"/>
              <a:satOff val="795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CC33F-4A7A-4E35-AB49-AA2ADF5E4ED1}">
      <dsp:nvSpPr>
        <dsp:cNvPr id="0" name=""/>
        <dsp:cNvSpPr/>
      </dsp:nvSpPr>
      <dsp:spPr>
        <a:xfrm>
          <a:off x="0" y="3042325"/>
          <a:ext cx="1410652" cy="1014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Category winners by avg 3Y CAGR</a:t>
          </a:r>
        </a:p>
      </dsp:txBody>
      <dsp:txXfrm>
        <a:off x="0" y="3042325"/>
        <a:ext cx="1410652" cy="1014108"/>
      </dsp:txXfrm>
    </dsp:sp>
    <dsp:sp modelId="{80760CA2-6918-4AA7-844B-E853682BC7B7}">
      <dsp:nvSpPr>
        <dsp:cNvPr id="0" name=""/>
        <dsp:cNvSpPr/>
      </dsp:nvSpPr>
      <dsp:spPr>
        <a:xfrm>
          <a:off x="1516451" y="3088376"/>
          <a:ext cx="5536812" cy="9210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FoFs</a:t>
          </a:r>
          <a:r>
            <a:rPr lang="en-US" sz="1400" kern="1200" dirty="0"/>
            <a:t> (Domestic/Overseas) leads; Index Funds trails</a:t>
          </a:r>
        </a:p>
      </dsp:txBody>
      <dsp:txXfrm>
        <a:off x="1516451" y="3088376"/>
        <a:ext cx="5536812" cy="921016"/>
      </dsp:txXfrm>
    </dsp:sp>
    <dsp:sp modelId="{B4F5529E-075C-4A9F-8A23-9810057B48A0}">
      <dsp:nvSpPr>
        <dsp:cNvPr id="0" name=""/>
        <dsp:cNvSpPr/>
      </dsp:nvSpPr>
      <dsp:spPr>
        <a:xfrm>
          <a:off x="1410652" y="4009392"/>
          <a:ext cx="564261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A9D0E-1DB5-4061-937B-1C10FBA58CA9}" type="datetimeFigureOut">
              <a:rPr lang="en-CA" smtClean="0"/>
              <a:t>2026-03-09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3BC61-B942-4FC4-8E25-B5591B04142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5169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BC61-B942-4FC4-8E25-B5591B04142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1914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BC61-B942-4FC4-8E25-B5591B04142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0721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BC61-B942-4FC4-8E25-B5591B04142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5219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BC61-B942-4FC4-8E25-B5591B04142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9245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1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4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6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59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39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01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4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5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9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6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98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4537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31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61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92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713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643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050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4FE363E2-FC3E-1F16-9F96-A882A83268A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14346" r="1065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447800"/>
            <a:ext cx="6619243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b="1"/>
              <a:t>Mutual Fund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4777380"/>
            <a:ext cx="6619243" cy="861420"/>
          </a:xfrm>
        </p:spPr>
        <p:txBody>
          <a:bodyPr>
            <a:normAutofit/>
          </a:bodyPr>
          <a:lstStyle/>
          <a:p>
            <a:r>
              <a:rPr lang="en-US" b="1"/>
              <a:t>Power BI Project Presentation</a:t>
            </a:r>
          </a:p>
          <a:p>
            <a:r>
              <a:rPr lang="en-US" b="1"/>
              <a:t>Shiv Rohit Mehra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6795C170-EDBA-0F0B-9746-DC7F5AB0B80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alphaModFix amt="15000"/>
          </a:blip>
          <a:srcRect l="4919" r="11748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 dirty="0"/>
              <a:t>Mutual Fund Analysis Dashboard (India 2023)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9FE742-1A27-4AEF-B5F0-F8C383EAB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052918"/>
            <a:ext cx="6709905" cy="4195481"/>
          </a:xfrm>
        </p:spPr>
        <p:txBody>
          <a:bodyPr anchor="ctr">
            <a:normAutofit/>
          </a:bodyPr>
          <a:lstStyle/>
          <a:p>
            <a:r>
              <a:rPr lang="en-US" dirty="0"/>
              <a:t>Author: Shiv Rohit Mehra</a:t>
            </a:r>
          </a:p>
          <a:p>
            <a:r>
              <a:rPr lang="en-US" dirty="0"/>
              <a:t>Dataset Source: </a:t>
            </a:r>
            <a:r>
              <a:rPr lang="en-US" b="1" cap="small" dirty="0"/>
              <a:t>https://www.kaggle.com/datasets/ashishraut64/mutual-funds-india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8948" y="452718"/>
            <a:ext cx="3479177" cy="1400530"/>
          </a:xfrm>
        </p:spPr>
        <p:txBody>
          <a:bodyPr>
            <a:normAutofit/>
          </a:bodyPr>
          <a:lstStyle/>
          <a:p>
            <a:r>
              <a:rPr lang="en-CA" dirty="0"/>
              <a:t>Project Objective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71281" y="-1573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Magnifying glass showing decling performance">
            <a:extLst>
              <a:ext uri="{FF2B5EF4-FFF2-40B4-BE49-F238E27FC236}">
                <a16:creationId xmlns:a16="http://schemas.microsoft.com/office/drawing/2014/main" id="{DB61412D-CF2F-1B9B-4935-2A0D2FCB1D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69" r="40727" b="-1"/>
          <a:stretch>
            <a:fillRect/>
          </a:stretch>
        </p:blipFill>
        <p:spPr>
          <a:xfrm>
            <a:off x="2" y="10"/>
            <a:ext cx="3729824" cy="6857991"/>
          </a:xfrm>
          <a:custGeom>
            <a:avLst/>
            <a:gdLst/>
            <a:ahLst/>
            <a:cxnLst/>
            <a:rect l="l" t="t" r="r" b="b"/>
            <a:pathLst>
              <a:path w="4973099" h="6858001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8212" y="2052918"/>
            <a:ext cx="3479177" cy="4195481"/>
          </a:xfrm>
        </p:spPr>
        <p:txBody>
          <a:bodyPr>
            <a:normAutofit/>
          </a:bodyPr>
          <a:lstStyle/>
          <a:p>
            <a:r>
              <a:rPr lang="en-US"/>
              <a:t>Analyze mutual fund performance in the year 2023 in India using Power BI and Excel to identify high-performing funds, category trends, and investor-friendly investment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747724-8FD3-79F8-725B-88C5AB7AF52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1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B77EF0-FE67-9C61-F8B2-A0BA57414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/>
              <a:t>Agenda</a:t>
            </a:r>
            <a:br>
              <a:rPr lang="en-US"/>
            </a:br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9FE742-1A27-4AEF-B5F0-F8C383EAB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07B100-453E-74E9-E124-EFC2EDB8D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104650"/>
              </p:ext>
            </p:extLst>
          </p:nvPr>
        </p:nvGraphicFramePr>
        <p:xfrm>
          <a:off x="827484" y="2052918"/>
          <a:ext cx="6709905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06574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CA"/>
              <a:t>Data Snapshot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67E368-C461-409D-ADB1-F4E182308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336700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Magnifying glass showing decling performance">
            <a:extLst>
              <a:ext uri="{FF2B5EF4-FFF2-40B4-BE49-F238E27FC236}">
                <a16:creationId xmlns:a16="http://schemas.microsoft.com/office/drawing/2014/main" id="{9A0EEAFA-375E-C8C0-EA71-A4C3BA71F6C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15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CA"/>
              <a:t>Derived Metrics Created</a:t>
            </a:r>
            <a:endParaRPr lang="en-CA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9FE742-1A27-4AEF-B5F0-F8C383EAB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484" y="2052918"/>
            <a:ext cx="6709905" cy="419548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Performance Score: Combines short, mid, and long-term performance.</a:t>
            </a:r>
          </a:p>
          <a:p>
            <a:pPr>
              <a:lnSpc>
                <a:spcPct val="90000"/>
              </a:lnSpc>
            </a:pPr>
            <a:r>
              <a:rPr lang="en-US" sz="1500"/>
              <a:t>Return Stability:</a:t>
            </a:r>
          </a:p>
          <a:p>
            <a:pPr lvl="1">
              <a:lnSpc>
                <a:spcPct val="90000"/>
              </a:lnSpc>
            </a:pPr>
            <a:r>
              <a:rPr lang="en-CA" sz="1500"/>
              <a:t>Lower value = stable performance</a:t>
            </a:r>
          </a:p>
          <a:p>
            <a:pPr lvl="1">
              <a:lnSpc>
                <a:spcPct val="90000"/>
              </a:lnSpc>
            </a:pPr>
            <a:r>
              <a:rPr lang="en-CA" sz="1500"/>
              <a:t>Identify Consistent Performers</a:t>
            </a:r>
          </a:p>
          <a:p>
            <a:pPr lvl="1"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Momentum: Detect funds gaining momentum recently</a:t>
            </a:r>
          </a:p>
          <a:p>
            <a:pPr>
              <a:lnSpc>
                <a:spcPct val="90000"/>
              </a:lnSpc>
            </a:pPr>
            <a:r>
              <a:rPr lang="en-US" sz="1500"/>
              <a:t>Return Efficiency: Measure return generated per unit cost</a:t>
            </a:r>
          </a:p>
          <a:p>
            <a:pPr>
              <a:lnSpc>
                <a:spcPct val="90000"/>
              </a:lnSpc>
            </a:pPr>
            <a:r>
              <a:rPr lang="en-US" sz="1500"/>
              <a:t>Affordability Score: Find high return funds with low entry barrier.</a:t>
            </a:r>
          </a:p>
          <a:p>
            <a:pPr>
              <a:lnSpc>
                <a:spcPct val="90000"/>
              </a:lnSpc>
            </a:pPr>
            <a:r>
              <a:rPr lang="en-US" sz="1500"/>
              <a:t>Cost Category: </a:t>
            </a:r>
            <a:r>
              <a:rPr lang="en-CA" sz="1500"/>
              <a:t>Cost distribution visuals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3D29C3F3-68AC-BE91-3F4B-FF067B9CAB32}"/>
              </a:ext>
            </a:extLst>
          </p:cNvPr>
          <p:cNvSpPr txBox="1">
            <a:spLocks/>
          </p:cNvSpPr>
          <p:nvPr/>
        </p:nvSpPr>
        <p:spPr>
          <a:xfrm>
            <a:off x="1031600" y="2410487"/>
            <a:ext cx="3829048" cy="3679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CA" sz="1800" dirty="0"/>
          </a:p>
          <a:p>
            <a:endParaRPr lang="en-CA" sz="1800" dirty="0"/>
          </a:p>
          <a:p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F3FC718-FDE3-4EF7-921E-A5F374EAF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506" y="571500"/>
            <a:ext cx="2331469" cy="1444752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rgbClr val="EBEBEB"/>
                </a:solidFill>
              </a:rPr>
              <a:t>Dashboard Overview</a:t>
            </a:r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FAA0F719-3DC8-4F08-AD8F-5A845658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7DCB61BE-FA0F-4EFB-BE0E-268BAD8E3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703491" y="417491"/>
            <a:ext cx="6858001" cy="6023018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B31EAA-7423-46F7-9B90-4AB2B09C3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982" y="2587752"/>
            <a:ext cx="2331043" cy="2947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200" b="1" u="sng" dirty="0">
                <a:solidFill>
                  <a:srgbClr val="FFFFFF"/>
                </a:solidFill>
              </a:rPr>
              <a:t>KPI Cards</a:t>
            </a:r>
          </a:p>
          <a:p>
            <a:r>
              <a:rPr lang="en-CA" sz="1200" b="1" dirty="0">
                <a:solidFill>
                  <a:srgbClr val="FFFFFF"/>
                </a:solidFill>
              </a:rPr>
              <a:t>Total Schemes -2556</a:t>
            </a:r>
          </a:p>
          <a:p>
            <a:r>
              <a:rPr lang="en-CA" sz="1200" b="1" dirty="0">
                <a:solidFill>
                  <a:srgbClr val="FFFFFF"/>
                </a:solidFill>
              </a:rPr>
              <a:t>Average 1Y CAGR – 8.87%</a:t>
            </a:r>
          </a:p>
          <a:p>
            <a:r>
              <a:rPr lang="en-CA" sz="1200" b="1" dirty="0">
                <a:solidFill>
                  <a:srgbClr val="FFFFFF"/>
                </a:solidFill>
              </a:rPr>
              <a:t>Average 3Y CAGR – 7.16%</a:t>
            </a:r>
          </a:p>
          <a:p>
            <a:r>
              <a:rPr lang="en-CA" sz="1200" b="1" dirty="0">
                <a:solidFill>
                  <a:srgbClr val="FFFFFF"/>
                </a:solidFill>
              </a:rPr>
              <a:t>Average Expense Ratio – 47.35%</a:t>
            </a:r>
          </a:p>
          <a:p>
            <a:r>
              <a:rPr lang="en-CA" sz="1200" b="1" dirty="0">
                <a:solidFill>
                  <a:srgbClr val="FFFFFF"/>
                </a:solidFill>
              </a:rPr>
              <a:t>Average Minimum Investment – 4.63K</a:t>
            </a:r>
          </a:p>
        </p:txBody>
      </p:sp>
      <p:pic>
        <p:nvPicPr>
          <p:cNvPr id="4" name="Picture 3" descr="dashboard_pag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975" y="1712611"/>
            <a:ext cx="6411301" cy="3702526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6" name="Freeform: Shape 69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70F80A-47EE-3972-7EA5-9AD682F88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14483" b="-1"/>
          <a:stretch>
            <a:fillRect/>
          </a:stretch>
        </p:blipFill>
        <p:spPr>
          <a:xfrm>
            <a:off x="4570494" y="2036911"/>
            <a:ext cx="4087416" cy="2784175"/>
          </a:xfrm>
          <a:prstGeom prst="rect">
            <a:avLst/>
          </a:prstGeom>
          <a:effectLst/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992FE9-4B82-A76C-4556-7CE182B2F6D3}"/>
              </a:ext>
            </a:extLst>
          </p:cNvPr>
          <p:cNvSpPr txBox="1"/>
          <p:nvPr/>
        </p:nvSpPr>
        <p:spPr>
          <a:xfrm>
            <a:off x="486698" y="2438400"/>
            <a:ext cx="3124882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7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Scatter Plot shows that Equity &amp; Index Funds showed Stable growth between short and long term, But Debt Funds had short term momentum and fell off in the long term.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7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While </a:t>
            </a:r>
            <a:r>
              <a:rPr lang="en-US" sz="17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FoFs</a:t>
            </a:r>
            <a:r>
              <a:rPr lang="en-US" sz="17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Overseas were not doing good in short term but did well long term.  </a:t>
            </a:r>
            <a:r>
              <a:rPr lang="en-US" sz="17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FoFs</a:t>
            </a:r>
            <a:r>
              <a:rPr lang="en-US" sz="17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Domestic/Overseas performed the best in short term and long term and were very stable as well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300">
                <a:solidFill>
                  <a:srgbClr val="EBEBEB"/>
                </a:solidFill>
              </a:rPr>
              <a:t>Key Calculated Measures and DAX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1" name="Freeform: Shape 1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2F67CE-66B3-8B9F-8472-82E38C796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687822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583" y="452718"/>
            <a:ext cx="7053542" cy="1400530"/>
          </a:xfrm>
        </p:spPr>
        <p:txBody>
          <a:bodyPr>
            <a:normAutofit/>
          </a:bodyPr>
          <a:lstStyle/>
          <a:p>
            <a:r>
              <a:rPr lang="en-US"/>
              <a:t>Top Findings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7FC2D4-F10B-C0F8-2E98-106B7733B0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230364"/>
              </p:ext>
            </p:extLst>
          </p:nvPr>
        </p:nvGraphicFramePr>
        <p:xfrm>
          <a:off x="484583" y="2140085"/>
          <a:ext cx="7053264" cy="40564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7C24-9A83-1C49-91DB-FD513923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Recommendations</a:t>
            </a:r>
            <a:br>
              <a:rPr lang="en-US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4DF94-9DF1-4336-8F34-A63DDDA3E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Investor recommendations</a:t>
            </a:r>
            <a:endParaRPr lang="en-US" dirty="0"/>
          </a:p>
          <a:p>
            <a:r>
              <a:rPr lang="en-US" b="1" dirty="0"/>
              <a:t>Long term shortlist:</a:t>
            </a:r>
            <a:r>
              <a:rPr lang="en-US" dirty="0"/>
              <a:t> </a:t>
            </a:r>
            <a:r>
              <a:rPr lang="en-US" i="1" dirty="0"/>
              <a:t>CAGR 3Y &gt; 10% AND Expense Ratio &lt; 1% AND Rating ≥ 4.</a:t>
            </a:r>
          </a:p>
          <a:p>
            <a:pPr lvl="1"/>
            <a:r>
              <a:rPr lang="en-US" i="1" dirty="0"/>
              <a:t>ICICI Pru S&amp;P BSE Sensex Index Fund</a:t>
            </a:r>
          </a:p>
          <a:p>
            <a:pPr lvl="1"/>
            <a:r>
              <a:rPr lang="en-US" i="1" dirty="0"/>
              <a:t>HDFC Index Fund S&amp;P BSE Sensex</a:t>
            </a:r>
          </a:p>
          <a:p>
            <a:pPr lvl="1"/>
            <a:r>
              <a:rPr lang="en-US" i="1" dirty="0"/>
              <a:t>UTI Nifty 50 Index Fund - Reg</a:t>
            </a:r>
            <a:endParaRPr lang="en-US" dirty="0"/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4281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47350-1C61-56DA-8D66-AB4CC478E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Appendix Data Dictionary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BC095-0684-AD1F-ABDC-D6D9DABB4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CA" b="1" dirty="0"/>
              <a:t>Data dictionary</a:t>
            </a:r>
            <a:endParaRPr lang="en-CA" dirty="0"/>
          </a:p>
          <a:p>
            <a:r>
              <a:rPr lang="en-CA" b="1" dirty="0"/>
              <a:t>Scheme:</a:t>
            </a:r>
            <a:r>
              <a:rPr lang="en-CA" dirty="0"/>
              <a:t> Fund name</a:t>
            </a:r>
          </a:p>
          <a:p>
            <a:r>
              <a:rPr lang="en-CA" b="1" dirty="0"/>
              <a:t>Category:</a:t>
            </a:r>
            <a:r>
              <a:rPr lang="en-CA" dirty="0"/>
              <a:t> Equity / Debt / Hybrid etc.</a:t>
            </a:r>
          </a:p>
          <a:p>
            <a:r>
              <a:rPr lang="en-CA" b="1" dirty="0"/>
              <a:t>Type:</a:t>
            </a:r>
            <a:r>
              <a:rPr lang="en-CA" dirty="0"/>
              <a:t> Growth / Dividend / Direct / Regular</a:t>
            </a:r>
          </a:p>
          <a:p>
            <a:r>
              <a:rPr lang="en-CA" b="1" dirty="0"/>
              <a:t>Benchmark:</a:t>
            </a:r>
            <a:r>
              <a:rPr lang="en-CA" dirty="0"/>
              <a:t> Index name used for comparison</a:t>
            </a:r>
          </a:p>
          <a:p>
            <a:r>
              <a:rPr lang="en-CA" b="1" dirty="0"/>
              <a:t>Rating:</a:t>
            </a:r>
            <a:r>
              <a:rPr lang="en-CA" dirty="0"/>
              <a:t> Numeric rating (1–5)</a:t>
            </a:r>
          </a:p>
          <a:p>
            <a:r>
              <a:rPr lang="en-CA" b="1" dirty="0"/>
              <a:t>NAV:</a:t>
            </a:r>
            <a:r>
              <a:rPr lang="en-CA" dirty="0"/>
              <a:t> Net Asset Value in INR</a:t>
            </a:r>
          </a:p>
          <a:p>
            <a:r>
              <a:rPr lang="en-CA" b="1" dirty="0"/>
              <a:t>CAGR 6M/1Y/3Y:</a:t>
            </a:r>
            <a:r>
              <a:rPr lang="en-CA" dirty="0"/>
              <a:t> Compound annualized returns for periods</a:t>
            </a:r>
          </a:p>
          <a:p>
            <a:r>
              <a:rPr lang="en-CA" b="1" dirty="0"/>
              <a:t>Min Investment:</a:t>
            </a:r>
            <a:r>
              <a:rPr lang="en-CA" dirty="0"/>
              <a:t> Minimum lump sum investment in INR</a:t>
            </a:r>
          </a:p>
          <a:p>
            <a:r>
              <a:rPr lang="en-CA" b="1" dirty="0"/>
              <a:t>Expense Ratio:</a:t>
            </a:r>
            <a:r>
              <a:rPr lang="en-CA" dirty="0"/>
              <a:t> Annual expense percentage</a:t>
            </a:r>
          </a:p>
          <a:p>
            <a:r>
              <a:rPr lang="en-CA" b="1" dirty="0"/>
              <a:t>SIP Min Investment:</a:t>
            </a:r>
            <a:r>
              <a:rPr lang="en-CA" dirty="0"/>
              <a:t> Minimum SIP amount in INR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386300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215</TotalTime>
  <Words>619</Words>
  <Application>Microsoft Office PowerPoint</Application>
  <PresentationFormat>On-screen Show (4:3)</PresentationFormat>
  <Paragraphs>87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Century Gothic</vt:lpstr>
      <vt:lpstr>Wingdings 3</vt:lpstr>
      <vt:lpstr>Ion</vt:lpstr>
      <vt:lpstr>Mutual Fund Analysis Dashboard</vt:lpstr>
      <vt:lpstr>Mutual Fund Analysis Dashboard (India 2023)</vt:lpstr>
      <vt:lpstr>Project Objective</vt:lpstr>
      <vt:lpstr>Agenda </vt:lpstr>
      <vt:lpstr>Data Snapshot</vt:lpstr>
      <vt:lpstr>Derived Metrics Created</vt:lpstr>
      <vt:lpstr>Dashboard Overview</vt:lpstr>
      <vt:lpstr>PowerPoint Presentation</vt:lpstr>
      <vt:lpstr>Key Calculated Measures and DAX</vt:lpstr>
      <vt:lpstr>Top Findings </vt:lpstr>
      <vt:lpstr>Recommendations </vt:lpstr>
      <vt:lpstr>Appendix Data Dictionary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 Mehra</cp:lastModifiedBy>
  <cp:revision>46</cp:revision>
  <dcterms:created xsi:type="dcterms:W3CDTF">2013-01-27T09:14:16Z</dcterms:created>
  <dcterms:modified xsi:type="dcterms:W3CDTF">2026-03-09T15:53:35Z</dcterms:modified>
  <cp:category/>
</cp:coreProperties>
</file>